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pic>
        <p:nvPicPr>
          <p:cNvPr id="4" name="Picture 3" descr="ssc-primary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22960"/>
            <a:ext cx="3113956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1965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FOR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146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6800" b="0" i="0" spc="-40">
                <a:solidFill>
                  <a:srgbClr val="F0EDE7"/>
                </a:solidFill>
                <a:latin typeface="Cormorant Garamond"/>
              </a:rPr>
              <a:t>Investor Update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0" i="1">
                <a:solidFill>
                  <a:srgbClr val="7E8E84"/>
                </a:solidFill>
                <a:latin typeface="Cormorant Garamond"/>
              </a:rPr>
              <a:t>A note on the quarter: what we backed, and what comes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 i="1">
                <a:solidFill>
                  <a:srgbClr val="7E8E84"/>
                </a:solidFill>
                <a:latin typeface="Cormorant Garamond"/>
              </a:rPr>
              <a:t>Connecting capital to Utah founders who use it best.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1487" y="523036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 spc="240">
                <a:solidFill>
                  <a:srgbClr val="7E8E84"/>
                </a:solidFill>
                <a:latin typeface="Hanken Grotesk"/>
              </a:rPr>
              <a:t>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FROM 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Where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This quarter we reviewed more founders than any before, and made our most deliberate investments yet.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The thesis is holding. Utah's founders are here, they are strong, and they are ready for capital that moves with conviction.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Thank you for building this with us. Here is the quarter in full.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9718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246120"/>
            <a:ext cx="301752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1">
                <a:solidFill>
                  <a:srgbClr val="2F3E34"/>
                </a:solidFill>
                <a:latin typeface="Cormorant Garamond"/>
              </a:rPr>
              <a:t>A steady quarter, with real momentum underneath it.</a:t>
            </a:r>
          </a:p>
        </p:txBody>
      </p:sp>
      <p:pic>
        <p:nvPicPr>
          <p:cNvPr id="9" name="Picture 8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EAE6DD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D16B4F"/>
                </a:solidFill>
                <a:latin typeface="Cormorant Infant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54864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Founders reviewed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2F3E34"/>
                </a:solidFill>
                <a:latin typeface="Cormorant Infant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343400"/>
            <a:ext cx="548640" cy="254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New investments made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D16B4F"/>
                </a:solidFill>
                <a:latin typeface="Cormorant Infant"/>
              </a:rPr>
              <a:t>118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343400"/>
            <a:ext cx="54864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Members in the collective</a:t>
            </a:r>
          </a:p>
        </p:txBody>
      </p:sp>
      <p:pic>
        <p:nvPicPr>
          <p:cNvPr id="15" name="Picture 14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03 / 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 spc="40">
                <a:solidFill>
                  <a:srgbClr val="7E8E84"/>
                </a:solidFill>
                <a:latin typeface="Hanken Grotesk"/>
              </a:rPr>
              <a:t>Illustrative figures. Replace with the quarter's actuals.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NEW THIS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Where the capital went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Company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Sector. One line on what they do and why we backed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Company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Sector. One line on what they do and why we backed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Company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Sector. One line on what they do and why we backed them.</a:t>
            </a:r>
          </a:p>
        </p:txBody>
      </p:sp>
      <p:pic>
        <p:nvPicPr>
          <p:cNvPr id="17" name="Picture 16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Highlights and where we're leaning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743200"/>
            <a:ext cx="64008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26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A portfolio company hit a milestone. Note the traction, the raise, or the hire that matters most.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43200"/>
            <a:ext cx="640080" cy="2794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926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Leaning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6118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The sectors and stages drawing our conviction next quarter. Keep it to two or three.</a:t>
            </a:r>
          </a:p>
        </p:txBody>
      </p:sp>
      <p:pic>
        <p:nvPicPr>
          <p:cNvPr id="11" name="Picture 10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More than capital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We hosted member dinners in Salt Lake and Provo, and welcomed new investors to the collective.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Every gathering deepens the network that founders draw on when they take our capital.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9718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246120"/>
            <a:ext cx="301752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1">
                <a:solidFill>
                  <a:srgbClr val="2F3E34"/>
                </a:solidFill>
                <a:latin typeface="Cormorant Garamond"/>
              </a:rPr>
              <a:t>Capital, and a network founders can draw on.</a:t>
            </a:r>
          </a:p>
        </p:txBody>
      </p:sp>
      <p:pic>
        <p:nvPicPr>
          <p:cNvPr id="9" name="Picture 8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058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Close the two investments already in diligence.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Grow the collective toward our first hundred members.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Publish our first open research note on Utah's funding gap.</a:t>
            </a:r>
          </a:p>
        </p:txBody>
      </p:sp>
      <p:pic>
        <p:nvPicPr>
          <p:cNvPr id="7" name="Picture 6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 i="0" spc="-30">
                <a:solidFill>
                  <a:srgbClr val="F0EDE7"/>
                </a:solidFill>
                <a:latin typeface="Cormorant Garamond"/>
              </a:rPr>
              <a:t>Thank you for building Silver &amp; Salt Capital with us.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4600" b="1" i="0" spc="-30">
                <a:solidFill>
                  <a:srgbClr val="D16B4F"/>
                </a:solidFill>
                <a:latin typeface="Cormorant Garamond"/>
              </a:rPr>
              <a:t>Onward, together.</a:t>
            </a:r>
          </a:p>
        </p:txBody>
      </p:sp>
      <p:pic>
        <p:nvPicPr>
          <p:cNvPr id="5" name="Picture 4" descr="ssc-primary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617720"/>
            <a:ext cx="2611705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4207" y="457200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 spc="140">
                <a:solidFill>
                  <a:srgbClr val="D16B4F"/>
                </a:solidFill>
                <a:latin typeface="Hanken Grotesk"/>
              </a:rPr>
              <a:t>Reach out anytime</a:t>
            </a:r>
          </a:p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0EDE7"/>
                </a:solidFill>
                <a:latin typeface="Hanken Grotesk"/>
              </a:rPr>
              <a:t>silverandsaltcapital.com</a:t>
            </a:r>
          </a:p>
          <a:p>
            <a:pPr algn="r">
              <a:spcBef>
                <a:spcPts val="0"/>
              </a:spcBef>
            </a:pPr>
            <a:r>
              <a:rPr sz="1500" b="0" i="0">
                <a:solidFill>
                  <a:srgbClr val="7E8E84"/>
                </a:solidFill>
                <a:latin typeface="Hanken Grotesk"/>
              </a:rPr>
              <a:t>tori@silverandsaltcapital.com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