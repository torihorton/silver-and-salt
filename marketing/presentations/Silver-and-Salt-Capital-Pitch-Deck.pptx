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pic>
        <p:nvPicPr>
          <p:cNvPr id="4" name="Picture 3" descr="ssc-primary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22960"/>
            <a:ext cx="3113956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1965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INVESTOR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5146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6800" b="0" i="0" spc="-40">
                <a:solidFill>
                  <a:srgbClr val="F0EDE7"/>
                </a:solidFill>
                <a:latin typeface="Cormorant Garamond"/>
              </a:rPr>
              <a:t>Silver &amp; Salt Capital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0" i="1">
                <a:solidFill>
                  <a:srgbClr val="7E8E84"/>
                </a:solidFill>
                <a:latin typeface="Cormorant Garamond"/>
              </a:rPr>
              <a:t>A collective of accredited women investors backing Utah's best founders.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 i="1">
                <a:solidFill>
                  <a:srgbClr val="7E8E84"/>
                </a:solidFill>
                <a:latin typeface="Cormorant Garamond"/>
              </a:rPr>
              <a:t>Connecting capital to Utah founders who use it best.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1487" y="523036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 spc="240">
                <a:solidFill>
                  <a:srgbClr val="7E8E84"/>
                </a:solidFill>
                <a:latin typeface="Hanken Grotesk"/>
              </a:rPr>
              <a:t>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0">
                <a:solidFill>
                  <a:srgbClr val="F3F1EA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0" i="0" spc="-40">
                <a:solidFill>
                  <a:srgbClr val="2F3E34"/>
                </a:solidFill>
                <a:latin typeface="Cormorant Garamond"/>
              </a:rPr>
              <a:t>What we'll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2331720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2331720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Utah's founders, underfunded.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099816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18104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3118104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The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3118104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Small bets, high conviction.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886200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04488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3904488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The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3904488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How the collective works.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672584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90872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8" y="4690872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The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4690872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What the data shows.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5458968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477256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5477256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Join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8" y="5477256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The first hundred members.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245352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D97B61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0" b="0" i="0" spc="-200">
                <a:solidFill>
                  <a:srgbClr val="F0EDE7"/>
                </a:solidFill>
                <a:latin typeface="Cormorant Infan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60520"/>
            <a:ext cx="822960" cy="27940"/>
          </a:xfrm>
          <a:prstGeom prst="rect">
            <a:avLst/>
          </a:prstGeom>
          <a:solidFill>
            <a:srgbClr val="F0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0" i="0" spc="-40">
                <a:solidFill>
                  <a:srgbClr val="F0EDE7"/>
                </a:solidFill>
                <a:latin typeface="Cormorant Garamond"/>
              </a:rPr>
              <a:t>The Opportunity</a:t>
            </a:r>
          </a:p>
          <a:p>
            <a:pPr algn="l">
              <a:spcBef>
                <a:spcPts val="0"/>
              </a:spcBef>
            </a:pPr>
            <a:r>
              <a:rPr sz="2400" b="0" i="1">
                <a:solidFill>
                  <a:srgbClr val="F5E2DA"/>
                </a:solidFill>
                <a:latin typeface="Cormorant Garamond"/>
              </a:rPr>
              <a:t>Utah's high-performing founders are underfunded.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0">
                <a:solidFill>
                  <a:srgbClr val="EAE6DD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UTAH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Two rankings, one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06040"/>
            <a:ext cx="4206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000" b="0" i="0" spc="-200">
                <a:solidFill>
                  <a:srgbClr val="D16B4F"/>
                </a:solidFill>
                <a:latin typeface="Cormorant Infant"/>
              </a:rPr>
              <a:t>#3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54864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8056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In the United States, Utah's rank to start a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2606040"/>
            <a:ext cx="4206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000" b="0" i="0" spc="-200">
                <a:solidFill>
                  <a:srgbClr val="2F3E34"/>
                </a:solidFill>
                <a:latin typeface="Cormorant Infant"/>
              </a:rPr>
              <a:t>#50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4297680"/>
            <a:ext cx="548640" cy="254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448056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Utah's rank for women's equality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53212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200" b="0" i="1">
                <a:solidFill>
                  <a:srgbClr val="2F3E34"/>
                </a:solidFill>
                <a:latin typeface="Cormorant Garamond"/>
              </a:rPr>
              <a:t>The gap between being a great place to start a business and being challenging for women's equality is exactly what makes the opportunity so exciting.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Not new. Just new to Utah.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Women-led angel collectives have backed founders across the country for years. Boston, New York, the Bay Area.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Silver &amp; Salt Capital brings that proven model home to Utah, where the founders are already here and the capital has been slow to follow.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9718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246120"/>
            <a:ext cx="301752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1">
                <a:solidFill>
                  <a:srgbClr val="2F3E34"/>
                </a:solidFill>
                <a:latin typeface="Cormorant Garamond"/>
              </a:rPr>
              <a:t>A proven model, an open market, and a founder base already in place.</a:t>
            </a:r>
          </a:p>
        </p:txBody>
      </p:sp>
      <p:pic>
        <p:nvPicPr>
          <p:cNvPr id="9" name="Picture 8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D97B61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0" b="0" i="0" spc="-200">
                <a:solidFill>
                  <a:srgbClr val="F0EDE7"/>
                </a:solidFill>
                <a:latin typeface="Cormorant Infan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60520"/>
            <a:ext cx="822960" cy="27940"/>
          </a:xfrm>
          <a:prstGeom prst="rect">
            <a:avLst/>
          </a:prstGeom>
          <a:solidFill>
            <a:srgbClr val="F0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0" i="0" spc="-40">
                <a:solidFill>
                  <a:srgbClr val="F0EDE7"/>
                </a:solidFill>
                <a:latin typeface="Cormorant Garamond"/>
              </a:rPr>
              <a:t>The Model</a:t>
            </a:r>
          </a:p>
          <a:p>
            <a:pPr algn="l">
              <a:spcBef>
                <a:spcPts val="0"/>
              </a:spcBef>
            </a:pPr>
            <a:r>
              <a:rPr sz="2400" b="0" i="1">
                <a:solidFill>
                  <a:srgbClr val="F5E2DA"/>
                </a:solidFill>
                <a:latin typeface="Cormorant Garamond"/>
              </a:rPr>
              <a:t>Small bets, shared conviction.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How the collective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A collective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Accredited women investors pooling capital and judgment to back founders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Small bets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Many measured investments across a portfolio, rather than a few large 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Shared conviction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Members set the thesis, source deals, and decide together.</a:t>
            </a:r>
          </a:p>
        </p:txBody>
      </p:sp>
      <p:pic>
        <p:nvPicPr>
          <p:cNvPr id="17" name="Picture 16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The science of small bets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Early-stage returns follow a power law. A few investments carry the portfolio.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So we spread conviction across many founders and let the winners compound. Diversification is the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9718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246120"/>
            <a:ext cx="301752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1">
                <a:solidFill>
                  <a:srgbClr val="2F3E34"/>
                </a:solidFill>
                <a:latin typeface="Cormorant Garamond"/>
              </a:rPr>
              <a:t>A portfolio of small bets beats a single large one.</a:t>
            </a:r>
          </a:p>
          <a:p>
            <a:pPr algn="l">
              <a:spcBef>
                <a:spcPts val="0"/>
              </a:spcBef>
            </a:pPr>
            <a:r>
              <a:rPr sz="1300" b="0" i="0" spc="40">
                <a:solidFill>
                  <a:srgbClr val="7E8E84"/>
                </a:solidFill>
                <a:latin typeface="Hanken Grotesk"/>
              </a:rPr>
              <a:t>Portfolio math</a:t>
            </a:r>
          </a:p>
        </p:txBody>
      </p:sp>
      <p:pic>
        <p:nvPicPr>
          <p:cNvPr id="9" name="Picture 8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0">
                <a:solidFill>
                  <a:srgbClr val="EAE6DD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Don't take our word for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D16B4F"/>
                </a:solidFill>
                <a:latin typeface="Cormorant Infant"/>
              </a:rPr>
              <a:t>78¢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43400"/>
            <a:ext cx="54864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Revenue per dollar invested in women-founded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2F3E34"/>
                </a:solidFill>
                <a:latin typeface="Cormorant Infant"/>
              </a:rPr>
              <a:t>31¢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343400"/>
            <a:ext cx="548640" cy="254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Revenue per dollar invested in the average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D16B4F"/>
                </a:solidFill>
                <a:latin typeface="Cormorant Infant"/>
              </a:rPr>
              <a:t>2×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343400"/>
            <a:ext cx="54864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Comparable outcomes on roughly half the capital</a:t>
            </a:r>
          </a:p>
        </p:txBody>
      </p:sp>
      <p:pic>
        <p:nvPicPr>
          <p:cNvPr id="15" name="Picture 14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09 /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 spc="60">
                <a:solidFill>
                  <a:srgbClr val="7E8E84"/>
                </a:solidFill>
                <a:latin typeface="Hanken Grotesk"/>
              </a:rPr>
              <a:t>Source: BCG / MassChallenge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6304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0" b="0" i="0">
                <a:solidFill>
                  <a:srgbClr val="D16B4F"/>
                </a:solidFill>
                <a:latin typeface="Cormorant Garamond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9509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200" b="0" i="1">
                <a:solidFill>
                  <a:srgbClr val="F0EDE7"/>
                </a:solidFill>
                <a:latin typeface="Cormorant Garamond"/>
              </a:rPr>
              <a:t>The first hundred members will set the thesis, shape the culture, and define what comes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440680"/>
            <a:ext cx="45720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28523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 spc="120">
                <a:solidFill>
                  <a:srgbClr val="7E8E84"/>
                </a:solidFill>
                <a:latin typeface="Hanken Grotesk"/>
              </a:rPr>
              <a:t>The founding invitation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 i="0" spc="-30">
                <a:solidFill>
                  <a:srgbClr val="F0EDE7"/>
                </a:solidFill>
                <a:latin typeface="Cormorant Garamond"/>
              </a:rPr>
              <a:t>Utah's next generation of innovation will be shaped by founders &amp; determined by funders.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4600" b="1" i="0" spc="-30">
                <a:solidFill>
                  <a:srgbClr val="D16B4F"/>
                </a:solidFill>
                <a:latin typeface="Cormorant Garamond"/>
              </a:rPr>
              <a:t>It's time more of them are women.</a:t>
            </a:r>
          </a:p>
        </p:txBody>
      </p:sp>
      <p:pic>
        <p:nvPicPr>
          <p:cNvPr id="5" name="Picture 4" descr="ssc-primary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617720"/>
            <a:ext cx="2611705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4207" y="457200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 spc="140">
                <a:solidFill>
                  <a:srgbClr val="D16B4F"/>
                </a:solidFill>
                <a:latin typeface="Hanken Grotesk"/>
              </a:rPr>
              <a:t>Join Us</a:t>
            </a:r>
          </a:p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0EDE7"/>
                </a:solidFill>
                <a:latin typeface="Hanken Grotesk"/>
              </a:rPr>
              <a:t>silverandsaltcapital.com</a:t>
            </a:r>
          </a:p>
          <a:p>
            <a:pPr algn="r">
              <a:spcBef>
                <a:spcPts val="0"/>
              </a:spcBef>
            </a:pPr>
            <a:r>
              <a:rPr sz="1500" b="0" i="0">
                <a:solidFill>
                  <a:srgbClr val="7E8E84"/>
                </a:solidFill>
                <a:latin typeface="Hanken Grotesk"/>
              </a:rPr>
              <a:t>tori@silverandsaltcapital.com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