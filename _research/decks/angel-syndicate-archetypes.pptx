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23"/>
        </a:solidFill>
        <a:effectLst/>
      </p:bgPr>
    </p:bg>
    <p:spTree>
      <p:nvGrpSpPr>
        <p:cNvPr id="1" name=""/>
        <p:cNvGrpSpPr/>
        <p:nvPr/>
      </p:nvGrpSpPr>
      <p:grpSpPr/>
      <p:sp>
        <p:nvSpPr>
          <p:cNvPr id="2" name="TextBox 1"/>
          <p:cNvSpPr txBox="1"/>
          <p:nvPr/>
        </p:nvSpPr>
        <p:spPr>
          <a:xfrm>
            <a:off x="6858000" y="457200"/>
            <a:ext cx="5486400" cy="6400800"/>
          </a:xfrm>
          <a:prstGeom prst="rect">
            <a:avLst/>
          </a:prstGeom>
          <a:noFill/>
        </p:spPr>
        <p:txBody>
          <a:bodyPr wrap="square" lIns="0" rIns="0" tIns="0" bIns="0" anchor="t">
            <a:spAutoFit/>
          </a:bodyPr>
          <a:lstStyle/>
          <a:p>
            <a:pPr algn="l"/>
            <a:r>
              <a:rPr sz="56000" b="0" i="0">
                <a:solidFill>
                  <a:srgbClr val="3A4B40"/>
                </a:solidFill>
                <a:latin typeface="Cormorant Garamond"/>
              </a:rPr>
              <a:t>&amp;</a:t>
            </a:r>
          </a:p>
        </p:txBody>
      </p:sp>
      <p:sp>
        <p:nvSpPr>
          <p:cNvPr id="3" name="TextBox 2"/>
          <p:cNvSpPr txBox="1"/>
          <p:nvPr/>
        </p:nvSpPr>
        <p:spPr>
          <a:xfrm>
            <a:off x="640080" y="1280160"/>
            <a:ext cx="6858000" cy="365760"/>
          </a:xfrm>
          <a:prstGeom prst="rect">
            <a:avLst/>
          </a:prstGeom>
          <a:noFill/>
        </p:spPr>
        <p:txBody>
          <a:bodyPr wrap="square" lIns="0" rIns="0" tIns="0" bIns="0" anchor="t">
            <a:spAutoFit/>
          </a:bodyPr>
          <a:lstStyle/>
          <a:p>
            <a:pPr algn="l"/>
            <a:r>
              <a:rPr sz="1100" b="1" i="0">
                <a:solidFill>
                  <a:srgbClr val="7E8E84"/>
                </a:solidFill>
                <a:latin typeface="Inter"/>
              </a:rPr>
              <a:t>LANDSCAPE STUDY  ·  APRIL 2026</a:t>
            </a:r>
          </a:p>
        </p:txBody>
      </p:sp>
      <p:sp>
        <p:nvSpPr>
          <p:cNvPr id="4" name="TextBox 3"/>
          <p:cNvSpPr txBox="1"/>
          <p:nvPr/>
        </p:nvSpPr>
        <p:spPr>
          <a:xfrm>
            <a:off x="640080" y="1828800"/>
            <a:ext cx="8686800" cy="2377440"/>
          </a:xfrm>
          <a:prstGeom prst="rect">
            <a:avLst/>
          </a:prstGeom>
          <a:noFill/>
        </p:spPr>
        <p:txBody>
          <a:bodyPr wrap="square" lIns="0" rIns="0" tIns="0" bIns="0" anchor="t">
            <a:spAutoFit/>
          </a:bodyPr>
          <a:lstStyle/>
          <a:p>
            <a:pPr algn="l"/>
            <a:r>
              <a:rPr sz="6600" b="0" i="1">
                <a:solidFill>
                  <a:srgbClr val="FBF8F2"/>
                </a:solidFill>
                <a:latin typeface="Cormorant Garamond"/>
              </a:rPr>
              <a:t>The four homepage archetypes</a:t>
            </a:r>
          </a:p>
        </p:txBody>
      </p:sp>
      <p:sp>
        <p:nvSpPr>
          <p:cNvPr id="5" name="TextBox 4"/>
          <p:cNvSpPr txBox="1"/>
          <p:nvPr/>
        </p:nvSpPr>
        <p:spPr>
          <a:xfrm>
            <a:off x="640080" y="4114800"/>
            <a:ext cx="9144000" cy="1097280"/>
          </a:xfrm>
          <a:prstGeom prst="rect">
            <a:avLst/>
          </a:prstGeom>
          <a:noFill/>
        </p:spPr>
        <p:txBody>
          <a:bodyPr wrap="square" lIns="0" rIns="0" tIns="0" bIns="0" anchor="t">
            <a:spAutoFit/>
          </a:bodyPr>
          <a:lstStyle/>
          <a:p>
            <a:pPr algn="l"/>
            <a:r>
              <a:rPr sz="2200" b="0" i="0">
                <a:solidFill>
                  <a:srgbClr val="FBF8F2"/>
                </a:solidFill>
                <a:latin typeface="Cormorant Garamond"/>
              </a:rPr>
              <a:t>How 53 women-focused angel networks and syndicates introduce themselves online,</a:t>
            </a:r>
          </a:p>
          <a:p>
            <a:pPr algn="l"/>
            <a:r>
              <a:rPr sz="2200" b="0" i="1">
                <a:solidFill>
                  <a:srgbClr val="FBF8F2"/>
                </a:solidFill>
                <a:latin typeface="Cormorant Garamond"/>
              </a:rPr>
              <a:t>and what the patterns reveal about what is missing.</a:t>
            </a:r>
          </a:p>
        </p:txBody>
      </p:sp>
      <p:sp>
        <p:nvSpPr>
          <p:cNvPr id="6" name="Rectangle 5"/>
          <p:cNvSpPr/>
          <p:nvPr/>
        </p:nvSpPr>
        <p:spPr>
          <a:xfrm>
            <a:off x="640080" y="585216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989320"/>
            <a:ext cx="9144000" cy="365760"/>
          </a:xfrm>
          <a:prstGeom prst="rect">
            <a:avLst/>
          </a:prstGeom>
          <a:noFill/>
        </p:spPr>
        <p:txBody>
          <a:bodyPr wrap="square" lIns="0" rIns="0" tIns="0" bIns="0" anchor="t">
            <a:spAutoFit/>
          </a:bodyPr>
          <a:lstStyle/>
          <a:p>
            <a:pPr algn="l"/>
            <a:r>
              <a:rPr sz="1100" b="0" i="1">
                <a:solidFill>
                  <a:srgbClr val="7E8E84"/>
                </a:solidFill>
                <a:latin typeface="Inter"/>
              </a:rPr>
              <a:t>Method: 49 of 53 homepages parsed for title, headings, navigation, CTAs, lead copy, and tech-stack signals.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502920"/>
            <a:ext cx="10972800" cy="640080"/>
          </a:xfrm>
          <a:prstGeom prst="rect">
            <a:avLst/>
          </a:prstGeom>
          <a:noFill/>
        </p:spPr>
        <p:txBody>
          <a:bodyPr wrap="square" lIns="0" rIns="0" tIns="0" bIns="0" anchor="t">
            <a:spAutoFit/>
          </a:bodyPr>
          <a:lstStyle/>
          <a:p>
            <a:pPr algn="l"/>
            <a:r>
              <a:rPr sz="3800" b="0" i="1">
                <a:solidFill>
                  <a:srgbClr val="2F3E34"/>
                </a:solidFill>
                <a:latin typeface="Cormorant Garamond"/>
              </a:rPr>
              <a:t>Four patterns dominate the field.</a:t>
            </a:r>
          </a:p>
        </p:txBody>
      </p:sp>
      <p:sp>
        <p:nvSpPr>
          <p:cNvPr id="3" name="Rectangle 2"/>
          <p:cNvSpPr/>
          <p:nvPr/>
        </p:nvSpPr>
        <p:spPr>
          <a:xfrm>
            <a:off x="640080" y="118872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10972800" cy="411480"/>
          </a:xfrm>
          <a:prstGeom prst="rect">
            <a:avLst/>
          </a:prstGeom>
          <a:noFill/>
        </p:spPr>
        <p:txBody>
          <a:bodyPr wrap="square" lIns="0" rIns="0" tIns="0" bIns="0" anchor="t">
            <a:spAutoFit/>
          </a:bodyPr>
          <a:lstStyle/>
          <a:p>
            <a:pPr algn="l"/>
            <a:r>
              <a:rPr sz="1400" b="0" i="1">
                <a:solidFill>
                  <a:srgbClr val="7E8E84"/>
                </a:solidFill>
                <a:latin typeface="Inter"/>
              </a:rPr>
              <a:t>Across 40 working homepages, every site fell into one of four shapes. The mix is lopsided.</a:t>
            </a:r>
          </a:p>
        </p:txBody>
      </p:sp>
      <p:sp>
        <p:nvSpPr>
          <p:cNvPr id="5" name="Rectangle 4"/>
          <p:cNvSpPr/>
          <p:nvPr/>
        </p:nvSpPr>
        <p:spPr>
          <a:xfrm>
            <a:off x="640080" y="1874519"/>
            <a:ext cx="2697480" cy="4297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74519"/>
            <a:ext cx="2697480" cy="54864"/>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240280" cy="640080"/>
          </a:xfrm>
          <a:prstGeom prst="rect">
            <a:avLst/>
          </a:prstGeom>
          <a:noFill/>
        </p:spPr>
        <p:txBody>
          <a:bodyPr wrap="square" lIns="0" rIns="0" tIns="0" bIns="0" anchor="t">
            <a:spAutoFit/>
          </a:bodyPr>
          <a:lstStyle/>
          <a:p>
            <a:pPr algn="l"/>
            <a:r>
              <a:rPr sz="4400" b="0" i="1">
                <a:solidFill>
                  <a:srgbClr val="D16B4F"/>
                </a:solidFill>
                <a:latin typeface="Cormorant Garamond"/>
              </a:rPr>
              <a:t>01</a:t>
            </a:r>
          </a:p>
        </p:txBody>
      </p:sp>
      <p:sp>
        <p:nvSpPr>
          <p:cNvPr id="8" name="TextBox 7"/>
          <p:cNvSpPr txBox="1"/>
          <p:nvPr/>
        </p:nvSpPr>
        <p:spPr>
          <a:xfrm>
            <a:off x="868680" y="2880360"/>
            <a:ext cx="2240280" cy="1005840"/>
          </a:xfrm>
          <a:prstGeom prst="rect">
            <a:avLst/>
          </a:prstGeom>
          <a:noFill/>
        </p:spPr>
        <p:txBody>
          <a:bodyPr wrap="square" lIns="0" rIns="0" tIns="0" bIns="0" anchor="t">
            <a:spAutoFit/>
          </a:bodyPr>
          <a:lstStyle/>
          <a:p>
            <a:pPr algn="l"/>
            <a:r>
              <a:rPr sz="2400" b="0" i="1">
                <a:solidFill>
                  <a:srgbClr val="2F3E34"/>
                </a:solidFill>
                <a:latin typeface="Cormorant Garamond"/>
              </a:rPr>
              <a:t>Two-door homepage</a:t>
            </a:r>
          </a:p>
        </p:txBody>
      </p:sp>
      <p:sp>
        <p:nvSpPr>
          <p:cNvPr id="9" name="TextBox 8"/>
          <p:cNvSpPr txBox="1"/>
          <p:nvPr/>
        </p:nvSpPr>
        <p:spPr>
          <a:xfrm>
            <a:off x="868680" y="3931920"/>
            <a:ext cx="2240280" cy="320040"/>
          </a:xfrm>
          <a:prstGeom prst="rect">
            <a:avLst/>
          </a:prstGeom>
          <a:noFill/>
        </p:spPr>
        <p:txBody>
          <a:bodyPr wrap="square" lIns="0" rIns="0" tIns="0" bIns="0" anchor="t">
            <a:spAutoFit/>
          </a:bodyPr>
          <a:lstStyle/>
          <a:p>
            <a:pPr algn="l"/>
            <a:r>
              <a:rPr sz="1000" b="1" i="0">
                <a:solidFill>
                  <a:srgbClr val="7E8E84"/>
                </a:solidFill>
                <a:latin typeface="Inter"/>
              </a:rPr>
              <a:t>~22 SITES</a:t>
            </a:r>
          </a:p>
        </p:txBody>
      </p:sp>
      <p:sp>
        <p:nvSpPr>
          <p:cNvPr id="10" name="TextBox 9"/>
          <p:cNvSpPr txBox="1"/>
          <p:nvPr/>
        </p:nvSpPr>
        <p:spPr>
          <a:xfrm>
            <a:off x="868680" y="4389120"/>
            <a:ext cx="2240280" cy="1554480"/>
          </a:xfrm>
          <a:prstGeom prst="rect">
            <a:avLst/>
          </a:prstGeom>
          <a:noFill/>
        </p:spPr>
        <p:txBody>
          <a:bodyPr wrap="square" lIns="0" rIns="0" tIns="0" bIns="0" anchor="t">
            <a:spAutoFit/>
          </a:bodyPr>
          <a:lstStyle/>
          <a:p>
            <a:pPr algn="l"/>
            <a:r>
              <a:rPr sz="1300" b="0" i="0">
                <a:solidFill>
                  <a:srgbClr val="2F3E34"/>
                </a:solidFill>
                <a:latin typeface="Inter"/>
              </a:rPr>
              <a:t>Founders and investors share equal billing in the hero.</a:t>
            </a:r>
          </a:p>
        </p:txBody>
      </p:sp>
      <p:sp>
        <p:nvSpPr>
          <p:cNvPr id="11" name="Rectangle 10"/>
          <p:cNvSpPr/>
          <p:nvPr/>
        </p:nvSpPr>
        <p:spPr>
          <a:xfrm>
            <a:off x="3474720" y="1874519"/>
            <a:ext cx="2697480" cy="4297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874519"/>
            <a:ext cx="2697480" cy="54864"/>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2057400"/>
            <a:ext cx="2240280" cy="640080"/>
          </a:xfrm>
          <a:prstGeom prst="rect">
            <a:avLst/>
          </a:prstGeom>
          <a:noFill/>
        </p:spPr>
        <p:txBody>
          <a:bodyPr wrap="square" lIns="0" rIns="0" tIns="0" bIns="0" anchor="t">
            <a:spAutoFit/>
          </a:bodyPr>
          <a:lstStyle/>
          <a:p>
            <a:pPr algn="l"/>
            <a:r>
              <a:rPr sz="4400" b="0" i="1">
                <a:solidFill>
                  <a:srgbClr val="7E8E84"/>
                </a:solidFill>
                <a:latin typeface="Cormorant Garamond"/>
              </a:rPr>
              <a:t>02</a:t>
            </a:r>
          </a:p>
        </p:txBody>
      </p:sp>
      <p:sp>
        <p:nvSpPr>
          <p:cNvPr id="14" name="TextBox 13"/>
          <p:cNvSpPr txBox="1"/>
          <p:nvPr/>
        </p:nvSpPr>
        <p:spPr>
          <a:xfrm>
            <a:off x="3703320" y="2880360"/>
            <a:ext cx="2240280" cy="1005840"/>
          </a:xfrm>
          <a:prstGeom prst="rect">
            <a:avLst/>
          </a:prstGeom>
          <a:noFill/>
        </p:spPr>
        <p:txBody>
          <a:bodyPr wrap="square" lIns="0" rIns="0" tIns="0" bIns="0" anchor="t">
            <a:spAutoFit/>
          </a:bodyPr>
          <a:lstStyle/>
          <a:p>
            <a:pPr algn="l"/>
            <a:r>
              <a:rPr sz="2400" b="0" i="1">
                <a:solidFill>
                  <a:srgbClr val="2F3E34"/>
                </a:solidFill>
                <a:latin typeface="Cormorant Garamond"/>
              </a:rPr>
              <a:t>Investor-only club</a:t>
            </a:r>
          </a:p>
        </p:txBody>
      </p:sp>
      <p:sp>
        <p:nvSpPr>
          <p:cNvPr id="15" name="TextBox 14"/>
          <p:cNvSpPr txBox="1"/>
          <p:nvPr/>
        </p:nvSpPr>
        <p:spPr>
          <a:xfrm>
            <a:off x="3703320" y="3931920"/>
            <a:ext cx="2240280" cy="320040"/>
          </a:xfrm>
          <a:prstGeom prst="rect">
            <a:avLst/>
          </a:prstGeom>
          <a:noFill/>
        </p:spPr>
        <p:txBody>
          <a:bodyPr wrap="square" lIns="0" rIns="0" tIns="0" bIns="0" anchor="t">
            <a:spAutoFit/>
          </a:bodyPr>
          <a:lstStyle/>
          <a:p>
            <a:pPr algn="l"/>
            <a:r>
              <a:rPr sz="1000" b="1" i="0">
                <a:solidFill>
                  <a:srgbClr val="7E8E84"/>
                </a:solidFill>
                <a:latin typeface="Inter"/>
              </a:rPr>
              <a:t>~6 SITES</a:t>
            </a:r>
          </a:p>
        </p:txBody>
      </p:sp>
      <p:sp>
        <p:nvSpPr>
          <p:cNvPr id="16" name="TextBox 15"/>
          <p:cNvSpPr txBox="1"/>
          <p:nvPr/>
        </p:nvSpPr>
        <p:spPr>
          <a:xfrm>
            <a:off x="3703320" y="4389120"/>
            <a:ext cx="2240280" cy="1554480"/>
          </a:xfrm>
          <a:prstGeom prst="rect">
            <a:avLst/>
          </a:prstGeom>
          <a:noFill/>
        </p:spPr>
        <p:txBody>
          <a:bodyPr wrap="square" lIns="0" rIns="0" tIns="0" bIns="0" anchor="t">
            <a:spAutoFit/>
          </a:bodyPr>
          <a:lstStyle/>
          <a:p>
            <a:pPr algn="l"/>
            <a:r>
              <a:rPr sz="1300" b="0" i="0">
                <a:solidFill>
                  <a:srgbClr val="2F3E34"/>
                </a:solidFill>
                <a:latin typeface="Inter"/>
              </a:rPr>
              <a:t>Page is pitched at prospective members, founders are absent.</a:t>
            </a:r>
          </a:p>
        </p:txBody>
      </p:sp>
      <p:sp>
        <p:nvSpPr>
          <p:cNvPr id="17" name="Rectangle 16"/>
          <p:cNvSpPr/>
          <p:nvPr/>
        </p:nvSpPr>
        <p:spPr>
          <a:xfrm>
            <a:off x="6309360" y="1874519"/>
            <a:ext cx="2697480" cy="4297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874519"/>
            <a:ext cx="2697480" cy="54864"/>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2057400"/>
            <a:ext cx="2240280" cy="640080"/>
          </a:xfrm>
          <a:prstGeom prst="rect">
            <a:avLst/>
          </a:prstGeom>
          <a:noFill/>
        </p:spPr>
        <p:txBody>
          <a:bodyPr wrap="square" lIns="0" rIns="0" tIns="0" bIns="0" anchor="t">
            <a:spAutoFit/>
          </a:bodyPr>
          <a:lstStyle/>
          <a:p>
            <a:pPr algn="l"/>
            <a:r>
              <a:rPr sz="4400" b="0" i="1">
                <a:solidFill>
                  <a:srgbClr val="7E8E84"/>
                </a:solidFill>
                <a:latin typeface="Cormorant Garamond"/>
              </a:rPr>
              <a:t>03</a:t>
            </a:r>
          </a:p>
        </p:txBody>
      </p:sp>
      <p:sp>
        <p:nvSpPr>
          <p:cNvPr id="20" name="TextBox 19"/>
          <p:cNvSpPr txBox="1"/>
          <p:nvPr/>
        </p:nvSpPr>
        <p:spPr>
          <a:xfrm>
            <a:off x="6537960" y="2880360"/>
            <a:ext cx="2240280" cy="1005840"/>
          </a:xfrm>
          <a:prstGeom prst="rect">
            <a:avLst/>
          </a:prstGeom>
          <a:noFill/>
        </p:spPr>
        <p:txBody>
          <a:bodyPr wrap="square" lIns="0" rIns="0" tIns="0" bIns="0" anchor="t">
            <a:spAutoFit/>
          </a:bodyPr>
          <a:lstStyle/>
          <a:p>
            <a:pPr algn="l"/>
            <a:r>
              <a:rPr sz="2400" b="0" i="1">
                <a:solidFill>
                  <a:srgbClr val="2F3E34"/>
                </a:solidFill>
                <a:latin typeface="Cormorant Garamond"/>
              </a:rPr>
              <a:t>Platform / multi-product</a:t>
            </a:r>
          </a:p>
        </p:txBody>
      </p:sp>
      <p:sp>
        <p:nvSpPr>
          <p:cNvPr id="21" name="TextBox 20"/>
          <p:cNvSpPr txBox="1"/>
          <p:nvPr/>
        </p:nvSpPr>
        <p:spPr>
          <a:xfrm>
            <a:off x="6537960" y="3931920"/>
            <a:ext cx="2240280" cy="320040"/>
          </a:xfrm>
          <a:prstGeom prst="rect">
            <a:avLst/>
          </a:prstGeom>
          <a:noFill/>
        </p:spPr>
        <p:txBody>
          <a:bodyPr wrap="square" lIns="0" rIns="0" tIns="0" bIns="0" anchor="t">
            <a:spAutoFit/>
          </a:bodyPr>
          <a:lstStyle/>
          <a:p>
            <a:pPr algn="l"/>
            <a:r>
              <a:rPr sz="1000" b="1" i="0">
                <a:solidFill>
                  <a:srgbClr val="7E8E84"/>
                </a:solidFill>
                <a:latin typeface="Inter"/>
              </a:rPr>
              <a:t>~5 SITES</a:t>
            </a:r>
          </a:p>
        </p:txBody>
      </p:sp>
      <p:sp>
        <p:nvSpPr>
          <p:cNvPr id="22" name="TextBox 21"/>
          <p:cNvSpPr txBox="1"/>
          <p:nvPr/>
        </p:nvSpPr>
        <p:spPr>
          <a:xfrm>
            <a:off x="6537960" y="4389120"/>
            <a:ext cx="2240280" cy="1554480"/>
          </a:xfrm>
          <a:prstGeom prst="rect">
            <a:avLst/>
          </a:prstGeom>
          <a:noFill/>
        </p:spPr>
        <p:txBody>
          <a:bodyPr wrap="square" lIns="0" rIns="0" tIns="0" bIns="0" anchor="t">
            <a:spAutoFit/>
          </a:bodyPr>
          <a:lstStyle/>
          <a:p>
            <a:pPr algn="l"/>
            <a:r>
              <a:rPr sz="1300" b="0" i="0">
                <a:solidFill>
                  <a:srgbClr val="2F3E34"/>
                </a:solidFill>
                <a:latin typeface="Inter"/>
              </a:rPr>
              <a:t>Less a network, more a content and tools brand.</a:t>
            </a:r>
          </a:p>
        </p:txBody>
      </p:sp>
      <p:sp>
        <p:nvSpPr>
          <p:cNvPr id="23" name="Rectangle 22"/>
          <p:cNvSpPr/>
          <p:nvPr/>
        </p:nvSpPr>
        <p:spPr>
          <a:xfrm>
            <a:off x="9144000" y="1874519"/>
            <a:ext cx="2697480" cy="4297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0" y="1874519"/>
            <a:ext cx="2697480" cy="54864"/>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057400"/>
            <a:ext cx="2240280" cy="640080"/>
          </a:xfrm>
          <a:prstGeom prst="rect">
            <a:avLst/>
          </a:prstGeom>
          <a:noFill/>
        </p:spPr>
        <p:txBody>
          <a:bodyPr wrap="square" lIns="0" rIns="0" tIns="0" bIns="0" anchor="t">
            <a:spAutoFit/>
          </a:bodyPr>
          <a:lstStyle/>
          <a:p>
            <a:pPr algn="l"/>
            <a:r>
              <a:rPr sz="4400" b="0" i="1">
                <a:solidFill>
                  <a:srgbClr val="7E8E84"/>
                </a:solidFill>
                <a:latin typeface="Cormorant Garamond"/>
              </a:rPr>
              <a:t>04</a:t>
            </a:r>
          </a:p>
        </p:txBody>
      </p:sp>
      <p:sp>
        <p:nvSpPr>
          <p:cNvPr id="26" name="TextBox 25"/>
          <p:cNvSpPr txBox="1"/>
          <p:nvPr/>
        </p:nvSpPr>
        <p:spPr>
          <a:xfrm>
            <a:off x="9372600" y="2880360"/>
            <a:ext cx="2240280" cy="1005840"/>
          </a:xfrm>
          <a:prstGeom prst="rect">
            <a:avLst/>
          </a:prstGeom>
          <a:noFill/>
        </p:spPr>
        <p:txBody>
          <a:bodyPr wrap="square" lIns="0" rIns="0" tIns="0" bIns="0" anchor="t">
            <a:spAutoFit/>
          </a:bodyPr>
          <a:lstStyle/>
          <a:p>
            <a:pPr algn="l"/>
            <a:r>
              <a:rPr sz="2400" b="0" i="1">
                <a:solidFill>
                  <a:srgbClr val="2F3E34"/>
                </a:solidFill>
                <a:latin typeface="Cormorant Garamond"/>
              </a:rPr>
              <a:t>Personal / portfolio</a:t>
            </a:r>
          </a:p>
        </p:txBody>
      </p:sp>
      <p:sp>
        <p:nvSpPr>
          <p:cNvPr id="27" name="TextBox 26"/>
          <p:cNvSpPr txBox="1"/>
          <p:nvPr/>
        </p:nvSpPr>
        <p:spPr>
          <a:xfrm>
            <a:off x="9372600" y="3931920"/>
            <a:ext cx="2240280" cy="320040"/>
          </a:xfrm>
          <a:prstGeom prst="rect">
            <a:avLst/>
          </a:prstGeom>
          <a:noFill/>
        </p:spPr>
        <p:txBody>
          <a:bodyPr wrap="square" lIns="0" rIns="0" tIns="0" bIns="0" anchor="t">
            <a:spAutoFit/>
          </a:bodyPr>
          <a:lstStyle/>
          <a:p>
            <a:pPr algn="l"/>
            <a:r>
              <a:rPr sz="1000" b="1" i="0">
                <a:solidFill>
                  <a:srgbClr val="7E8E84"/>
                </a:solidFill>
                <a:latin typeface="Inter"/>
              </a:rPr>
              <a:t>2 SITES</a:t>
            </a:r>
          </a:p>
        </p:txBody>
      </p:sp>
      <p:sp>
        <p:nvSpPr>
          <p:cNvPr id="28" name="TextBox 27"/>
          <p:cNvSpPr txBox="1"/>
          <p:nvPr/>
        </p:nvSpPr>
        <p:spPr>
          <a:xfrm>
            <a:off x="9372600" y="4389120"/>
            <a:ext cx="2240280" cy="1554480"/>
          </a:xfrm>
          <a:prstGeom prst="rect">
            <a:avLst/>
          </a:prstGeom>
          <a:noFill/>
        </p:spPr>
        <p:txBody>
          <a:bodyPr wrap="square" lIns="0" rIns="0" tIns="0" bIns="0" anchor="t">
            <a:spAutoFit/>
          </a:bodyPr>
          <a:lstStyle/>
          <a:p>
            <a:pPr algn="l"/>
            <a:r>
              <a:rPr sz="1300" b="0" i="0">
                <a:solidFill>
                  <a:srgbClr val="2F3E34"/>
                </a:solidFill>
                <a:latin typeface="Inter"/>
              </a:rPr>
              <a:t>Lower-key, individual-investor presence.</a:t>
            </a:r>
          </a:p>
        </p:txBody>
      </p:sp>
      <p:sp>
        <p:nvSpPr>
          <p:cNvPr id="29" name="TextBox 28"/>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The four homepage archetypes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lIns="0" rIns="0" tIns="0" bIns="0" anchor="t">
            <a:spAutoFit/>
          </a:bodyPr>
          <a:lstStyle/>
          <a:p>
            <a:pPr algn="l"/>
            <a:r>
              <a:rPr sz="1100" b="1" i="0">
                <a:solidFill>
                  <a:srgbClr val="D16B4F"/>
                </a:solidFill>
                <a:latin typeface="Inter"/>
              </a:rPr>
              <a:t>ARCHETYPE 01  ·  ~22 SITES · MOST COMMON</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200" b="0" i="1">
                <a:solidFill>
                  <a:srgbClr val="2F3E34"/>
                </a:solidFill>
                <a:latin typeface="Cormorant Garamond"/>
              </a:rPr>
              <a:t>The two-door homepage</a:t>
            </a:r>
          </a:p>
        </p:txBody>
      </p:sp>
      <p:sp>
        <p:nvSpPr>
          <p:cNvPr id="4" name="Rectangle 3"/>
          <p:cNvSpPr/>
          <p:nvPr/>
        </p:nvSpPr>
        <p:spPr>
          <a:xfrm>
            <a:off x="640080" y="182880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881360" cy="640080"/>
          </a:xfrm>
          <a:prstGeom prst="rect">
            <a:avLst/>
          </a:prstGeom>
          <a:noFill/>
        </p:spPr>
        <p:txBody>
          <a:bodyPr wrap="square" lIns="0" rIns="0" tIns="0" bIns="0" anchor="t">
            <a:spAutoFit/>
          </a:bodyPr>
          <a:lstStyle/>
          <a:p>
            <a:pPr algn="l"/>
            <a:r>
              <a:rPr sz="2000" b="0" i="0">
                <a:solidFill>
                  <a:srgbClr val="2F3E34"/>
                </a:solidFill>
                <a:latin typeface="Cormorant Garamond"/>
              </a:rPr>
              <a:t>The hero splits into 'For Founders' and 'For Investors / Members' with equal billing.</a:t>
            </a:r>
          </a:p>
        </p:txBody>
      </p:sp>
      <p:sp>
        <p:nvSpPr>
          <p:cNvPr id="6" name="Rectangle 5"/>
          <p:cNvSpPr/>
          <p:nvPr/>
        </p:nvSpPr>
        <p:spPr>
          <a:xfrm>
            <a:off x="6400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743200"/>
            <a:ext cx="54864" cy="292608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71800"/>
            <a:ext cx="4663440" cy="457200"/>
          </a:xfrm>
          <a:prstGeom prst="rect">
            <a:avLst/>
          </a:prstGeom>
          <a:noFill/>
        </p:spPr>
        <p:txBody>
          <a:bodyPr wrap="square" lIns="0" rIns="0" tIns="0" bIns="0" anchor="t">
            <a:spAutoFit/>
          </a:bodyPr>
          <a:lstStyle/>
          <a:p>
            <a:pPr algn="l"/>
            <a:r>
              <a:rPr sz="1000" b="1" i="0">
                <a:solidFill>
                  <a:srgbClr val="D16B4F"/>
                </a:solidFill>
                <a:latin typeface="Inter"/>
              </a:rPr>
              <a:t>WHY IT EXISTS</a:t>
            </a:r>
          </a:p>
        </p:txBody>
      </p:sp>
      <p:sp>
        <p:nvSpPr>
          <p:cNvPr id="9" name="TextBox 8"/>
          <p:cNvSpPr txBox="1"/>
          <p:nvPr/>
        </p:nvSpPr>
        <p:spPr>
          <a:xfrm>
            <a:off x="9144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These groups serve two audiences with one budget: founders seeking checks and accredited members seeking deal flow. A split hero is the cheapest way to acknowledge both without choosing. Section patterns repeat almost word for word: Mission, Investment Criteria, Portfolio, Apply for Funding, Become a Member, Events, News.</a:t>
            </a:r>
          </a:p>
        </p:txBody>
      </p:sp>
      <p:sp>
        <p:nvSpPr>
          <p:cNvPr id="10" name="Rectangle 9"/>
          <p:cNvSpPr/>
          <p:nvPr/>
        </p:nvSpPr>
        <p:spPr>
          <a:xfrm>
            <a:off x="61264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2743200"/>
            <a:ext cx="54864" cy="292608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971800"/>
            <a:ext cx="4663440" cy="457200"/>
          </a:xfrm>
          <a:prstGeom prst="rect">
            <a:avLst/>
          </a:prstGeom>
          <a:noFill/>
        </p:spPr>
        <p:txBody>
          <a:bodyPr wrap="square" lIns="0" rIns="0" tIns="0" bIns="0" anchor="t">
            <a:spAutoFit/>
          </a:bodyPr>
          <a:lstStyle/>
          <a:p>
            <a:pPr algn="l"/>
            <a:r>
              <a:rPr sz="1000" b="1" i="0">
                <a:solidFill>
                  <a:srgbClr val="7E8E84"/>
                </a:solidFill>
                <a:latin typeface="Inter"/>
              </a:rPr>
              <a:t>WHO PICKS IT</a:t>
            </a:r>
          </a:p>
        </p:txBody>
      </p:sp>
      <p:sp>
        <p:nvSpPr>
          <p:cNvPr id="13" name="TextBox 12"/>
          <p:cNvSpPr txBox="1"/>
          <p:nvPr/>
        </p:nvSpPr>
        <p:spPr>
          <a:xfrm>
            <a:off x="64008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Established networks that have run for a decade or more, regional angel groups with steady deal flow, and groups whose member count is the product they sell. A two-door homepage signals 'we are a real institution and you are welcome on either side,' which tracks for a board-led nonprofit or professionally managed network.</a:t>
            </a:r>
          </a:p>
        </p:txBody>
      </p:sp>
      <p:sp>
        <p:nvSpPr>
          <p:cNvPr id="14" name="TextBox 13"/>
          <p:cNvSpPr txBox="1"/>
          <p:nvPr/>
        </p:nvSpPr>
        <p:spPr>
          <a:xfrm>
            <a:off x="640080" y="5852160"/>
            <a:ext cx="1828800" cy="274320"/>
          </a:xfrm>
          <a:prstGeom prst="rect">
            <a:avLst/>
          </a:prstGeom>
          <a:noFill/>
        </p:spPr>
        <p:txBody>
          <a:bodyPr wrap="square" lIns="0" rIns="0" tIns="0" bIns="0" anchor="t">
            <a:spAutoFit/>
          </a:bodyPr>
          <a:lstStyle/>
          <a:p>
            <a:pPr algn="l"/>
            <a:r>
              <a:rPr sz="1000" b="1" i="0">
                <a:solidFill>
                  <a:srgbClr val="7E8E84"/>
                </a:solidFill>
                <a:latin typeface="Inter"/>
              </a:rPr>
              <a:t>EXAMPLES</a:t>
            </a:r>
          </a:p>
        </p:txBody>
      </p:sp>
      <p:sp>
        <p:nvSpPr>
          <p:cNvPr id="15" name="TextBox 14"/>
          <p:cNvSpPr txBox="1"/>
          <p:nvPr/>
        </p:nvSpPr>
        <p:spPr>
          <a:xfrm>
            <a:off x="640080" y="6126480"/>
            <a:ext cx="10881360" cy="457200"/>
          </a:xfrm>
          <a:prstGeom prst="rect">
            <a:avLst/>
          </a:prstGeom>
          <a:noFill/>
        </p:spPr>
        <p:txBody>
          <a:bodyPr wrap="square" lIns="0" rIns="0" tIns="0" bIns="0" anchor="t">
            <a:spAutoFit/>
          </a:bodyPr>
          <a:lstStyle/>
          <a:p>
            <a:pPr algn="l"/>
            <a:r>
              <a:rPr sz="1200" b="0" i="1">
                <a:solidFill>
                  <a:srgbClr val="2F3E34"/>
                </a:solidFill>
                <a:latin typeface="Inter"/>
              </a:rPr>
              <a:t>Golden Seeds, Ark Angel Alliance, Tidal River Fund, TCA Venture Group, Launchpad, Maine Angels, Citrine Angels, NY Angels, Frontier Angels, Nebraska Angels, JumpFund, BEAM, Belle Capital.</a:t>
            </a:r>
          </a:p>
        </p:txBody>
      </p:sp>
      <p:sp>
        <p:nvSpPr>
          <p:cNvPr id="16" name="TextBox 15"/>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Archetype 01 of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lIns="0" rIns="0" tIns="0" bIns="0" anchor="t">
            <a:spAutoFit/>
          </a:bodyPr>
          <a:lstStyle/>
          <a:p>
            <a:pPr algn="l"/>
            <a:r>
              <a:rPr sz="1100" b="1" i="0">
                <a:solidFill>
                  <a:srgbClr val="D16B4F"/>
                </a:solidFill>
                <a:latin typeface="Inter"/>
              </a:rPr>
              <a:t>ARCHETYPE 02  ·  ~6 SITES</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200" b="0" i="1">
                <a:solidFill>
                  <a:srgbClr val="2F3E34"/>
                </a:solidFill>
                <a:latin typeface="Cormorant Garamond"/>
              </a:rPr>
              <a:t>The investor-only club</a:t>
            </a:r>
          </a:p>
        </p:txBody>
      </p:sp>
      <p:sp>
        <p:nvSpPr>
          <p:cNvPr id="4" name="Rectangle 3"/>
          <p:cNvSpPr/>
          <p:nvPr/>
        </p:nvSpPr>
        <p:spPr>
          <a:xfrm>
            <a:off x="640080" y="182880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881360" cy="640080"/>
          </a:xfrm>
          <a:prstGeom prst="rect">
            <a:avLst/>
          </a:prstGeom>
          <a:noFill/>
        </p:spPr>
        <p:txBody>
          <a:bodyPr wrap="square" lIns="0" rIns="0" tIns="0" bIns="0" anchor="t">
            <a:spAutoFit/>
          </a:bodyPr>
          <a:lstStyle/>
          <a:p>
            <a:pPr algn="l"/>
            <a:r>
              <a:rPr sz="2000" b="0" i="0">
                <a:solidFill>
                  <a:srgbClr val="2F3E34"/>
                </a:solidFill>
                <a:latin typeface="Cormorant Garamond"/>
              </a:rPr>
              <a:t>The founders application is hidden or absent. The page speaks only to prospective members.</a:t>
            </a:r>
          </a:p>
        </p:txBody>
      </p:sp>
      <p:sp>
        <p:nvSpPr>
          <p:cNvPr id="6" name="Rectangle 5"/>
          <p:cNvSpPr/>
          <p:nvPr/>
        </p:nvSpPr>
        <p:spPr>
          <a:xfrm>
            <a:off x="6400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743200"/>
            <a:ext cx="54864" cy="292608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71800"/>
            <a:ext cx="4663440" cy="457200"/>
          </a:xfrm>
          <a:prstGeom prst="rect">
            <a:avLst/>
          </a:prstGeom>
          <a:noFill/>
        </p:spPr>
        <p:txBody>
          <a:bodyPr wrap="square" lIns="0" rIns="0" tIns="0" bIns="0" anchor="t">
            <a:spAutoFit/>
          </a:bodyPr>
          <a:lstStyle/>
          <a:p>
            <a:pPr algn="l"/>
            <a:r>
              <a:rPr sz="1000" b="1" i="0">
                <a:solidFill>
                  <a:srgbClr val="D16B4F"/>
                </a:solidFill>
                <a:latin typeface="Inter"/>
              </a:rPr>
              <a:t>WHY IT EXISTS</a:t>
            </a:r>
          </a:p>
        </p:txBody>
      </p:sp>
      <p:sp>
        <p:nvSpPr>
          <p:cNvPr id="9" name="TextBox 8"/>
          <p:cNvSpPr txBox="1"/>
          <p:nvPr/>
        </p:nvSpPr>
        <p:spPr>
          <a:xfrm>
            <a:off x="9144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The product these groups actually sell is membership: education, vetted deal flow, and peer community. Putting a founder application alongside it muddies the offer. By cutting the founder lane, the page becomes a sales page for one thing, with copy that reads more like a private club application than a public investment portal.</a:t>
            </a:r>
          </a:p>
        </p:txBody>
      </p:sp>
      <p:sp>
        <p:nvSpPr>
          <p:cNvPr id="10" name="Rectangle 9"/>
          <p:cNvSpPr/>
          <p:nvPr/>
        </p:nvSpPr>
        <p:spPr>
          <a:xfrm>
            <a:off x="61264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2743200"/>
            <a:ext cx="54864" cy="292608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971800"/>
            <a:ext cx="4663440" cy="457200"/>
          </a:xfrm>
          <a:prstGeom prst="rect">
            <a:avLst/>
          </a:prstGeom>
          <a:noFill/>
        </p:spPr>
        <p:txBody>
          <a:bodyPr wrap="square" lIns="0" rIns="0" tIns="0" bIns="0" anchor="t">
            <a:spAutoFit/>
          </a:bodyPr>
          <a:lstStyle/>
          <a:p>
            <a:pPr algn="l"/>
            <a:r>
              <a:rPr sz="1000" b="1" i="0">
                <a:solidFill>
                  <a:srgbClr val="7E8E84"/>
                </a:solidFill>
                <a:latin typeface="Inter"/>
              </a:rPr>
              <a:t>WHO PICKS IT</a:t>
            </a:r>
          </a:p>
        </p:txBody>
      </p:sp>
      <p:sp>
        <p:nvSpPr>
          <p:cNvPr id="13" name="TextBox 12"/>
          <p:cNvSpPr txBox="1"/>
          <p:nvPr/>
        </p:nvSpPr>
        <p:spPr>
          <a:xfrm>
            <a:off x="64008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Smaller, newer collectives where the membership experience is itself the edge, and groups whose founder pipeline arrives through warm member referrals rather than cold applications. Brydge Club's cohort framing is the clearest example: scarcity is the message.</a:t>
            </a:r>
          </a:p>
        </p:txBody>
      </p:sp>
      <p:sp>
        <p:nvSpPr>
          <p:cNvPr id="14" name="TextBox 13"/>
          <p:cNvSpPr txBox="1"/>
          <p:nvPr/>
        </p:nvSpPr>
        <p:spPr>
          <a:xfrm>
            <a:off x="640080" y="5852160"/>
            <a:ext cx="1828800" cy="274320"/>
          </a:xfrm>
          <a:prstGeom prst="rect">
            <a:avLst/>
          </a:prstGeom>
          <a:noFill/>
        </p:spPr>
        <p:txBody>
          <a:bodyPr wrap="square" lIns="0" rIns="0" tIns="0" bIns="0" anchor="t">
            <a:spAutoFit/>
          </a:bodyPr>
          <a:lstStyle/>
          <a:p>
            <a:pPr algn="l"/>
            <a:r>
              <a:rPr sz="1000" b="1" i="0">
                <a:solidFill>
                  <a:srgbClr val="7E8E84"/>
                </a:solidFill>
                <a:latin typeface="Inter"/>
              </a:rPr>
              <a:t>EXAMPLES</a:t>
            </a:r>
          </a:p>
        </p:txBody>
      </p:sp>
      <p:sp>
        <p:nvSpPr>
          <p:cNvPr id="15" name="TextBox 14"/>
          <p:cNvSpPr txBox="1"/>
          <p:nvPr/>
        </p:nvSpPr>
        <p:spPr>
          <a:xfrm>
            <a:off x="640080" y="6126480"/>
            <a:ext cx="10881360" cy="457200"/>
          </a:xfrm>
          <a:prstGeom prst="rect">
            <a:avLst/>
          </a:prstGeom>
          <a:noFill/>
        </p:spPr>
        <p:txBody>
          <a:bodyPr wrap="square" lIns="0" rIns="0" tIns="0" bIns="0" anchor="t">
            <a:spAutoFit/>
          </a:bodyPr>
          <a:lstStyle/>
          <a:p>
            <a:pPr algn="l"/>
            <a:r>
              <a:rPr sz="1200" b="0" i="1">
                <a:solidFill>
                  <a:srgbClr val="2F3E34"/>
                </a:solidFill>
                <a:latin typeface="Inter"/>
              </a:rPr>
              <a:t>Brydge Club, The Beam Network, Plum Alley Ventures, Impact Invest Her, Broadway Angels, OSEA.</a:t>
            </a:r>
          </a:p>
        </p:txBody>
      </p:sp>
      <p:sp>
        <p:nvSpPr>
          <p:cNvPr id="16" name="TextBox 15"/>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Archetype 02 of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lIns="0" rIns="0" tIns="0" bIns="0" anchor="t">
            <a:spAutoFit/>
          </a:bodyPr>
          <a:lstStyle/>
          <a:p>
            <a:pPr algn="l"/>
            <a:r>
              <a:rPr sz="1100" b="1" i="0">
                <a:solidFill>
                  <a:srgbClr val="D16B4F"/>
                </a:solidFill>
                <a:latin typeface="Inter"/>
              </a:rPr>
              <a:t>ARCHETYPE 03  ·  ~5 SITES</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200" b="0" i="1">
                <a:solidFill>
                  <a:srgbClr val="2F3E34"/>
                </a:solidFill>
                <a:latin typeface="Cormorant Garamond"/>
              </a:rPr>
              <a:t>The platform or multi-product homepage</a:t>
            </a:r>
          </a:p>
        </p:txBody>
      </p:sp>
      <p:sp>
        <p:nvSpPr>
          <p:cNvPr id="4" name="Rectangle 3"/>
          <p:cNvSpPr/>
          <p:nvPr/>
        </p:nvSpPr>
        <p:spPr>
          <a:xfrm>
            <a:off x="640080" y="182880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881360" cy="640080"/>
          </a:xfrm>
          <a:prstGeom prst="rect">
            <a:avLst/>
          </a:prstGeom>
          <a:noFill/>
        </p:spPr>
        <p:txBody>
          <a:bodyPr wrap="square" lIns="0" rIns="0" tIns="0" bIns="0" anchor="t">
            <a:spAutoFit/>
          </a:bodyPr>
          <a:lstStyle/>
          <a:p>
            <a:pPr algn="l"/>
            <a:r>
              <a:rPr sz="2000" b="0" i="0">
                <a:solidFill>
                  <a:srgbClr val="2F3E34"/>
                </a:solidFill>
                <a:latin typeface="Cormorant Garamond"/>
              </a:rPr>
              <a:t>Less an angel network, more a content, tools, and community brand.</a:t>
            </a:r>
          </a:p>
        </p:txBody>
      </p:sp>
      <p:sp>
        <p:nvSpPr>
          <p:cNvPr id="6" name="Rectangle 5"/>
          <p:cNvSpPr/>
          <p:nvPr/>
        </p:nvSpPr>
        <p:spPr>
          <a:xfrm>
            <a:off x="6400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743200"/>
            <a:ext cx="54864" cy="292608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71800"/>
            <a:ext cx="4663440" cy="457200"/>
          </a:xfrm>
          <a:prstGeom prst="rect">
            <a:avLst/>
          </a:prstGeom>
          <a:noFill/>
        </p:spPr>
        <p:txBody>
          <a:bodyPr wrap="square" lIns="0" rIns="0" tIns="0" bIns="0" anchor="t">
            <a:spAutoFit/>
          </a:bodyPr>
          <a:lstStyle/>
          <a:p>
            <a:pPr algn="l"/>
            <a:r>
              <a:rPr sz="1000" b="1" i="0">
                <a:solidFill>
                  <a:srgbClr val="D16B4F"/>
                </a:solidFill>
                <a:latin typeface="Inter"/>
              </a:rPr>
              <a:t>WHY IT EXISTS</a:t>
            </a:r>
          </a:p>
        </p:txBody>
      </p:sp>
      <p:sp>
        <p:nvSpPr>
          <p:cNvPr id="9" name="TextBox 8"/>
          <p:cNvSpPr txBox="1"/>
          <p:nvPr/>
        </p:nvSpPr>
        <p:spPr>
          <a:xfrm>
            <a:off x="9144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When a group publishes newsletters, books, events, and editorial alongside the fund itself, the homepage has to route attention across products. The investing arm becomes one tile among many. The benefit is reach: free resources pull a wide audience and the syndicate or fund converts the narrow slice that fits.</a:t>
            </a:r>
          </a:p>
        </p:txBody>
      </p:sp>
      <p:sp>
        <p:nvSpPr>
          <p:cNvPr id="10" name="Rectangle 9"/>
          <p:cNvSpPr/>
          <p:nvPr/>
        </p:nvSpPr>
        <p:spPr>
          <a:xfrm>
            <a:off x="61264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2743200"/>
            <a:ext cx="54864" cy="292608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971800"/>
            <a:ext cx="4663440" cy="457200"/>
          </a:xfrm>
          <a:prstGeom prst="rect">
            <a:avLst/>
          </a:prstGeom>
          <a:noFill/>
        </p:spPr>
        <p:txBody>
          <a:bodyPr wrap="square" lIns="0" rIns="0" tIns="0" bIns="0" anchor="t">
            <a:spAutoFit/>
          </a:bodyPr>
          <a:lstStyle/>
          <a:p>
            <a:pPr algn="l"/>
            <a:r>
              <a:rPr sz="1000" b="1" i="0">
                <a:solidFill>
                  <a:srgbClr val="7E8E84"/>
                </a:solidFill>
                <a:latin typeface="Inter"/>
              </a:rPr>
              <a:t>WHO PICKS IT</a:t>
            </a:r>
          </a:p>
        </p:txBody>
      </p:sp>
      <p:sp>
        <p:nvSpPr>
          <p:cNvPr id="13" name="TextBox 12"/>
          <p:cNvSpPr txBox="1"/>
          <p:nvPr/>
        </p:nvSpPr>
        <p:spPr>
          <a:xfrm>
            <a:off x="64008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Operators with a marketing-and-media mindset, often venture studios, publishers, or hybrid fund-plus-syndicate vehicles. The Helm pairs a fund with The Helm Review. Hustle Fund pairs a pre-seed fund with Angel Squad, books, and a scrappy founder blog. Editorial volume is the trust signal.</a:t>
            </a:r>
          </a:p>
        </p:txBody>
      </p:sp>
      <p:sp>
        <p:nvSpPr>
          <p:cNvPr id="14" name="TextBox 13"/>
          <p:cNvSpPr txBox="1"/>
          <p:nvPr/>
        </p:nvSpPr>
        <p:spPr>
          <a:xfrm>
            <a:off x="640080" y="5852160"/>
            <a:ext cx="1828800" cy="274320"/>
          </a:xfrm>
          <a:prstGeom prst="rect">
            <a:avLst/>
          </a:prstGeom>
          <a:noFill/>
        </p:spPr>
        <p:txBody>
          <a:bodyPr wrap="square" lIns="0" rIns="0" tIns="0" bIns="0" anchor="t">
            <a:spAutoFit/>
          </a:bodyPr>
          <a:lstStyle/>
          <a:p>
            <a:pPr algn="l"/>
            <a:r>
              <a:rPr sz="1000" b="1" i="0">
                <a:solidFill>
                  <a:srgbClr val="7E8E84"/>
                </a:solidFill>
                <a:latin typeface="Inter"/>
              </a:rPr>
              <a:t>EXAMPLES</a:t>
            </a:r>
          </a:p>
        </p:txBody>
      </p:sp>
      <p:sp>
        <p:nvSpPr>
          <p:cNvPr id="15" name="TextBox 14"/>
          <p:cNvSpPr txBox="1"/>
          <p:nvPr/>
        </p:nvSpPr>
        <p:spPr>
          <a:xfrm>
            <a:off x="640080" y="6126480"/>
            <a:ext cx="10881360" cy="457200"/>
          </a:xfrm>
          <a:prstGeom prst="rect">
            <a:avLst/>
          </a:prstGeom>
          <a:noFill/>
        </p:spPr>
        <p:txBody>
          <a:bodyPr wrap="square" lIns="0" rIns="0" tIns="0" bIns="0" anchor="t">
            <a:spAutoFit/>
          </a:bodyPr>
          <a:lstStyle/>
          <a:p>
            <a:pPr algn="l"/>
            <a:r>
              <a:rPr sz="1200" b="0" i="1">
                <a:solidFill>
                  <a:srgbClr val="2F3E34"/>
                </a:solidFill>
                <a:latin typeface="Inter"/>
              </a:rPr>
              <a:t>Hustle Fund / Angel Squad, The Helm, iFundWomen, She Angel Investors, Coralus.</a:t>
            </a:r>
          </a:p>
        </p:txBody>
      </p:sp>
      <p:sp>
        <p:nvSpPr>
          <p:cNvPr id="16" name="TextBox 15"/>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Archetype 03 of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lIns="0" rIns="0" tIns="0" bIns="0" anchor="t">
            <a:spAutoFit/>
          </a:bodyPr>
          <a:lstStyle/>
          <a:p>
            <a:pPr algn="l"/>
            <a:r>
              <a:rPr sz="1100" b="1" i="0">
                <a:solidFill>
                  <a:srgbClr val="D16B4F"/>
                </a:solidFill>
                <a:latin typeface="Inter"/>
              </a:rPr>
              <a:t>ARCHETYPE 04  ·  2 SITES</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200" b="0" i="1">
                <a:solidFill>
                  <a:srgbClr val="2F3E34"/>
                </a:solidFill>
                <a:latin typeface="Cormorant Garamond"/>
              </a:rPr>
              <a:t>The personal or portfolio site</a:t>
            </a:r>
          </a:p>
        </p:txBody>
      </p:sp>
      <p:sp>
        <p:nvSpPr>
          <p:cNvPr id="4" name="Rectangle 3"/>
          <p:cNvSpPr/>
          <p:nvPr/>
        </p:nvSpPr>
        <p:spPr>
          <a:xfrm>
            <a:off x="640080" y="182880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881360" cy="640080"/>
          </a:xfrm>
          <a:prstGeom prst="rect">
            <a:avLst/>
          </a:prstGeom>
          <a:noFill/>
        </p:spPr>
        <p:txBody>
          <a:bodyPr wrap="square" lIns="0" rIns="0" tIns="0" bIns="0" anchor="t">
            <a:spAutoFit/>
          </a:bodyPr>
          <a:lstStyle/>
          <a:p>
            <a:pPr algn="l"/>
            <a:r>
              <a:rPr sz="2000" b="0" i="0">
                <a:solidFill>
                  <a:srgbClr val="2F3E34"/>
                </a:solidFill>
                <a:latin typeface="Cormorant Garamond"/>
              </a:rPr>
              <a:t>A lower-key, individual-investor presence. The person is the brand.</a:t>
            </a:r>
          </a:p>
        </p:txBody>
      </p:sp>
      <p:sp>
        <p:nvSpPr>
          <p:cNvPr id="6" name="Rectangle 5"/>
          <p:cNvSpPr/>
          <p:nvPr/>
        </p:nvSpPr>
        <p:spPr>
          <a:xfrm>
            <a:off x="6400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743200"/>
            <a:ext cx="54864" cy="292608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71800"/>
            <a:ext cx="4663440" cy="457200"/>
          </a:xfrm>
          <a:prstGeom prst="rect">
            <a:avLst/>
          </a:prstGeom>
          <a:noFill/>
        </p:spPr>
        <p:txBody>
          <a:bodyPr wrap="square" lIns="0" rIns="0" tIns="0" bIns="0" anchor="t">
            <a:spAutoFit/>
          </a:bodyPr>
          <a:lstStyle/>
          <a:p>
            <a:pPr algn="l"/>
            <a:r>
              <a:rPr sz="1000" b="1" i="0">
                <a:solidFill>
                  <a:srgbClr val="D16B4F"/>
                </a:solidFill>
                <a:latin typeface="Inter"/>
              </a:rPr>
              <a:t>WHY IT EXISTS</a:t>
            </a:r>
          </a:p>
        </p:txBody>
      </p:sp>
      <p:sp>
        <p:nvSpPr>
          <p:cNvPr id="9" name="TextBox 8"/>
          <p:cNvSpPr txBox="1"/>
          <p:nvPr/>
        </p:nvSpPr>
        <p:spPr>
          <a:xfrm>
            <a:off x="9144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When the investor is the institution, the homepage is essentially a writer's website with portfolio links. There is no membership tier, no founder application form, and often no fund vehicle visible at all. The page exists so that warm intros land somewhere credible.</a:t>
            </a:r>
          </a:p>
        </p:txBody>
      </p:sp>
      <p:sp>
        <p:nvSpPr>
          <p:cNvPr id="10" name="Rectangle 9"/>
          <p:cNvSpPr/>
          <p:nvPr/>
        </p:nvSpPr>
        <p:spPr>
          <a:xfrm>
            <a:off x="6126480" y="2743200"/>
            <a:ext cx="5212080" cy="2926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2743200"/>
            <a:ext cx="54864" cy="292608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971800"/>
            <a:ext cx="4663440" cy="457200"/>
          </a:xfrm>
          <a:prstGeom prst="rect">
            <a:avLst/>
          </a:prstGeom>
          <a:noFill/>
        </p:spPr>
        <p:txBody>
          <a:bodyPr wrap="square" lIns="0" rIns="0" tIns="0" bIns="0" anchor="t">
            <a:spAutoFit/>
          </a:bodyPr>
          <a:lstStyle/>
          <a:p>
            <a:pPr algn="l"/>
            <a:r>
              <a:rPr sz="1000" b="1" i="0">
                <a:solidFill>
                  <a:srgbClr val="7E8E84"/>
                </a:solidFill>
                <a:latin typeface="Inter"/>
              </a:rPr>
              <a:t>WHO PICKS IT</a:t>
            </a:r>
          </a:p>
        </p:txBody>
      </p:sp>
      <p:sp>
        <p:nvSpPr>
          <p:cNvPr id="13" name="TextBox 12"/>
          <p:cNvSpPr txBox="1"/>
          <p:nvPr/>
        </p:nvSpPr>
        <p:spPr>
          <a:xfrm>
            <a:off x="6400800" y="3337560"/>
            <a:ext cx="4663440" cy="2148840"/>
          </a:xfrm>
          <a:prstGeom prst="rect">
            <a:avLst/>
          </a:prstGeom>
          <a:noFill/>
        </p:spPr>
        <p:txBody>
          <a:bodyPr wrap="square" lIns="0" rIns="0" tIns="0" bIns="0" anchor="t">
            <a:spAutoFit/>
          </a:bodyPr>
          <a:lstStyle/>
          <a:p>
            <a:pPr algn="l"/>
            <a:r>
              <a:rPr sz="1400" b="0" i="0">
                <a:solidFill>
                  <a:srgbClr val="2F3E34"/>
                </a:solidFill>
                <a:latin typeface="Inter"/>
              </a:rPr>
              <a:t>Solo angels and very small operator-led syndicates whose deal flow runs entirely through trust networks. The footprint is intentionally small. Anyone arriving cold is meant to read, follow, and reach back through a shared connection rather than apply through a form.</a:t>
            </a:r>
          </a:p>
        </p:txBody>
      </p:sp>
      <p:sp>
        <p:nvSpPr>
          <p:cNvPr id="14" name="TextBox 13"/>
          <p:cNvSpPr txBox="1"/>
          <p:nvPr/>
        </p:nvSpPr>
        <p:spPr>
          <a:xfrm>
            <a:off x="640080" y="5852160"/>
            <a:ext cx="1828800" cy="274320"/>
          </a:xfrm>
          <a:prstGeom prst="rect">
            <a:avLst/>
          </a:prstGeom>
          <a:noFill/>
        </p:spPr>
        <p:txBody>
          <a:bodyPr wrap="square" lIns="0" rIns="0" tIns="0" bIns="0" anchor="t">
            <a:spAutoFit/>
          </a:bodyPr>
          <a:lstStyle/>
          <a:p>
            <a:pPr algn="l"/>
            <a:r>
              <a:rPr sz="1000" b="1" i="0">
                <a:solidFill>
                  <a:srgbClr val="7E8E84"/>
                </a:solidFill>
                <a:latin typeface="Inter"/>
              </a:rPr>
              <a:t>EXAMPLES</a:t>
            </a:r>
          </a:p>
        </p:txBody>
      </p:sp>
      <p:sp>
        <p:nvSpPr>
          <p:cNvPr id="15" name="TextBox 14"/>
          <p:cNvSpPr txBox="1"/>
          <p:nvPr/>
        </p:nvSpPr>
        <p:spPr>
          <a:xfrm>
            <a:off x="640080" y="6126480"/>
            <a:ext cx="10881360" cy="457200"/>
          </a:xfrm>
          <a:prstGeom prst="rect">
            <a:avLst/>
          </a:prstGeom>
          <a:noFill/>
        </p:spPr>
        <p:txBody>
          <a:bodyPr wrap="square" lIns="0" rIns="0" tIns="0" bIns="0" anchor="t">
            <a:spAutoFit/>
          </a:bodyPr>
          <a:lstStyle/>
          <a:p>
            <a:pPr algn="l"/>
            <a:r>
              <a:rPr sz="1200" b="0" i="1">
                <a:solidFill>
                  <a:srgbClr val="2F3E34"/>
                </a:solidFill>
                <a:latin typeface="Inter"/>
              </a:rPr>
              <a:t>Gotham Gal Ventures (Joanne Wilson), The Council Angels (operator-led).</a:t>
            </a:r>
          </a:p>
        </p:txBody>
      </p:sp>
      <p:sp>
        <p:nvSpPr>
          <p:cNvPr id="16" name="TextBox 15"/>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Archetype 04 of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2A23"/>
        </a:solidFill>
        <a:effectLst/>
      </p:bgPr>
    </p:bg>
    <p:spTree>
      <p:nvGrpSpPr>
        <p:cNvPr id="1" name=""/>
        <p:cNvGrpSpPr/>
        <p:nvPr/>
      </p:nvGrpSpPr>
      <p:grpSpPr/>
      <p:sp>
        <p:nvSpPr>
          <p:cNvPr id="2" name="TextBox 1"/>
          <p:cNvSpPr txBox="1"/>
          <p:nvPr/>
        </p:nvSpPr>
        <p:spPr>
          <a:xfrm>
            <a:off x="640080" y="548640"/>
            <a:ext cx="8229600" cy="365760"/>
          </a:xfrm>
          <a:prstGeom prst="rect">
            <a:avLst/>
          </a:prstGeom>
          <a:noFill/>
        </p:spPr>
        <p:txBody>
          <a:bodyPr wrap="square" lIns="0" rIns="0" tIns="0" bIns="0" anchor="t">
            <a:spAutoFit/>
          </a:bodyPr>
          <a:lstStyle/>
          <a:p>
            <a:pPr algn="l"/>
            <a:r>
              <a:rPr sz="1100" b="1" i="0">
                <a:solidFill>
                  <a:srgbClr val="D16B4F"/>
                </a:solidFill>
                <a:latin typeface="Inter"/>
              </a:rPr>
              <a:t>WHAT THIS MEANS FOR SILVER &amp; SALT CAPITAL</a:t>
            </a:r>
          </a:p>
        </p:txBody>
      </p:sp>
      <p:sp>
        <p:nvSpPr>
          <p:cNvPr id="3" name="TextBox 2"/>
          <p:cNvSpPr txBox="1"/>
          <p:nvPr/>
        </p:nvSpPr>
        <p:spPr>
          <a:xfrm>
            <a:off x="640080" y="960120"/>
            <a:ext cx="10972800" cy="1280160"/>
          </a:xfrm>
          <a:prstGeom prst="rect">
            <a:avLst/>
          </a:prstGeom>
          <a:noFill/>
        </p:spPr>
        <p:txBody>
          <a:bodyPr wrap="square" lIns="0" rIns="0" tIns="0" bIns="0" anchor="t">
            <a:spAutoFit/>
          </a:bodyPr>
          <a:lstStyle/>
          <a:p>
            <a:pPr algn="l"/>
            <a:r>
              <a:rPr sz="4400" b="0" i="1">
                <a:solidFill>
                  <a:srgbClr val="FBF8F2"/>
                </a:solidFill>
                <a:latin typeface="Cormorant Garamond"/>
              </a:rPr>
              <a:t>The field has habits.</a:t>
            </a:r>
          </a:p>
          <a:p>
            <a:pPr algn="l"/>
            <a:r>
              <a:rPr sz="4400" b="0" i="1">
                <a:solidFill>
                  <a:srgbClr val="FBF8F2"/>
                </a:solidFill>
                <a:latin typeface="Cormorant Garamond"/>
              </a:rPr>
              <a:t>We have room to be specific.</a:t>
            </a:r>
          </a:p>
        </p:txBody>
      </p:sp>
      <p:sp>
        <p:nvSpPr>
          <p:cNvPr id="4" name="Rectangle 3"/>
          <p:cNvSpPr/>
          <p:nvPr/>
        </p:nvSpPr>
        <p:spPr>
          <a:xfrm>
            <a:off x="640080" y="2743200"/>
            <a:ext cx="3657600" cy="1691640"/>
          </a:xfrm>
          <a:prstGeom prst="rect">
            <a:avLst/>
          </a:prstGeom>
          <a:solidFill>
            <a:srgbClr val="3A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743200"/>
            <a:ext cx="45720" cy="169164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07792"/>
            <a:ext cx="3200400" cy="411480"/>
          </a:xfrm>
          <a:prstGeom prst="rect">
            <a:avLst/>
          </a:prstGeom>
          <a:noFill/>
        </p:spPr>
        <p:txBody>
          <a:bodyPr wrap="square" lIns="0" rIns="0" tIns="0" bIns="0" anchor="t">
            <a:spAutoFit/>
          </a:bodyPr>
          <a:lstStyle/>
          <a:p>
            <a:pPr algn="l"/>
            <a:r>
              <a:rPr sz="1800" b="0" i="1">
                <a:solidFill>
                  <a:srgbClr val="FBF8F2"/>
                </a:solidFill>
                <a:latin typeface="Cormorant Garamond"/>
              </a:rPr>
              <a:t>Cost transparency</a:t>
            </a:r>
          </a:p>
        </p:txBody>
      </p:sp>
      <p:sp>
        <p:nvSpPr>
          <p:cNvPr id="7" name="TextBox 6"/>
          <p:cNvSpPr txBox="1"/>
          <p:nvPr/>
        </p:nvSpPr>
        <p:spPr>
          <a:xfrm>
            <a:off x="868680" y="3383280"/>
            <a:ext cx="3200400" cy="914400"/>
          </a:xfrm>
          <a:prstGeom prst="rect">
            <a:avLst/>
          </a:prstGeom>
          <a:noFill/>
        </p:spPr>
        <p:txBody>
          <a:bodyPr wrap="square" lIns="0" rIns="0" tIns="0" bIns="0" anchor="t">
            <a:spAutoFit/>
          </a:bodyPr>
          <a:lstStyle/>
          <a:p>
            <a:pPr algn="l"/>
            <a:r>
              <a:rPr sz="1200" b="0" i="0">
                <a:solidFill>
                  <a:srgbClr val="CFD2CC"/>
                </a:solidFill>
                <a:latin typeface="Inter"/>
              </a:rPr>
              <a:t>Almost no site publishes dues, LP minimums, or per-deal commitments on the homepage.</a:t>
            </a:r>
          </a:p>
        </p:txBody>
      </p:sp>
      <p:sp>
        <p:nvSpPr>
          <p:cNvPr id="8" name="Rectangle 7"/>
          <p:cNvSpPr/>
          <p:nvPr/>
        </p:nvSpPr>
        <p:spPr>
          <a:xfrm>
            <a:off x="4480560" y="2743200"/>
            <a:ext cx="3657600" cy="1691640"/>
          </a:xfrm>
          <a:prstGeom prst="rect">
            <a:avLst/>
          </a:prstGeom>
          <a:solidFill>
            <a:srgbClr val="3A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2743200"/>
            <a:ext cx="45720" cy="169164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907792"/>
            <a:ext cx="3200400" cy="411480"/>
          </a:xfrm>
          <a:prstGeom prst="rect">
            <a:avLst/>
          </a:prstGeom>
          <a:noFill/>
        </p:spPr>
        <p:txBody>
          <a:bodyPr wrap="square" lIns="0" rIns="0" tIns="0" bIns="0" anchor="t">
            <a:spAutoFit/>
          </a:bodyPr>
          <a:lstStyle/>
          <a:p>
            <a:pPr algn="l"/>
            <a:r>
              <a:rPr sz="1800" b="0" i="1">
                <a:solidFill>
                  <a:srgbClr val="FBF8F2"/>
                </a:solidFill>
                <a:latin typeface="Cormorant Garamond"/>
              </a:rPr>
              <a:t>Calendar booking on apply</a:t>
            </a:r>
          </a:p>
        </p:txBody>
      </p:sp>
      <p:sp>
        <p:nvSpPr>
          <p:cNvPr id="11" name="TextBox 10"/>
          <p:cNvSpPr txBox="1"/>
          <p:nvPr/>
        </p:nvSpPr>
        <p:spPr>
          <a:xfrm>
            <a:off x="4709160" y="3383280"/>
            <a:ext cx="3200400" cy="914400"/>
          </a:xfrm>
          <a:prstGeom prst="rect">
            <a:avLst/>
          </a:prstGeom>
          <a:noFill/>
        </p:spPr>
        <p:txBody>
          <a:bodyPr wrap="square" lIns="0" rIns="0" tIns="0" bIns="0" anchor="t">
            <a:spAutoFit/>
          </a:bodyPr>
          <a:lstStyle/>
          <a:p>
            <a:pPr algn="l"/>
            <a:r>
              <a:rPr sz="1200" b="0" i="0">
                <a:solidFill>
                  <a:srgbClr val="CFD2CC"/>
                </a:solidFill>
                <a:latin typeface="Inter"/>
              </a:rPr>
              <a:t>Most rely on long forms or email. Inline calendar bookings are rare.</a:t>
            </a:r>
          </a:p>
        </p:txBody>
      </p:sp>
      <p:sp>
        <p:nvSpPr>
          <p:cNvPr id="12" name="Rectangle 11"/>
          <p:cNvSpPr/>
          <p:nvPr/>
        </p:nvSpPr>
        <p:spPr>
          <a:xfrm>
            <a:off x="8321040" y="2743200"/>
            <a:ext cx="3657600" cy="1691640"/>
          </a:xfrm>
          <a:prstGeom prst="rect">
            <a:avLst/>
          </a:prstGeom>
          <a:solidFill>
            <a:srgbClr val="3A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0" y="2743200"/>
            <a:ext cx="45720" cy="169164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2907792"/>
            <a:ext cx="3200400" cy="411480"/>
          </a:xfrm>
          <a:prstGeom prst="rect">
            <a:avLst/>
          </a:prstGeom>
          <a:noFill/>
        </p:spPr>
        <p:txBody>
          <a:bodyPr wrap="square" lIns="0" rIns="0" tIns="0" bIns="0" anchor="t">
            <a:spAutoFit/>
          </a:bodyPr>
          <a:lstStyle/>
          <a:p>
            <a:pPr algn="l"/>
            <a:r>
              <a:rPr sz="1800" b="0" i="1">
                <a:solidFill>
                  <a:srgbClr val="FBF8F2"/>
                </a:solidFill>
                <a:latin typeface="Cormorant Garamond"/>
              </a:rPr>
              <a:t>Editorial output</a:t>
            </a:r>
          </a:p>
        </p:txBody>
      </p:sp>
      <p:sp>
        <p:nvSpPr>
          <p:cNvPr id="15" name="TextBox 14"/>
          <p:cNvSpPr txBox="1"/>
          <p:nvPr/>
        </p:nvSpPr>
        <p:spPr>
          <a:xfrm>
            <a:off x="8549640" y="3383280"/>
            <a:ext cx="3200400" cy="914400"/>
          </a:xfrm>
          <a:prstGeom prst="rect">
            <a:avLst/>
          </a:prstGeom>
          <a:noFill/>
        </p:spPr>
        <p:txBody>
          <a:bodyPr wrap="square" lIns="0" rIns="0" tIns="0" bIns="0" anchor="t">
            <a:spAutoFit/>
          </a:bodyPr>
          <a:lstStyle/>
          <a:p>
            <a:pPr algn="l"/>
            <a:r>
              <a:rPr sz="1200" b="0" i="0">
                <a:solidFill>
                  <a:srgbClr val="CFD2CC"/>
                </a:solidFill>
                <a:latin typeface="Inter"/>
              </a:rPr>
              <a:t>Aside from The Helm and Hustle Fund, very few sites publish original research.</a:t>
            </a:r>
          </a:p>
        </p:txBody>
      </p:sp>
      <p:sp>
        <p:nvSpPr>
          <p:cNvPr id="16" name="Rectangle 15"/>
          <p:cNvSpPr/>
          <p:nvPr/>
        </p:nvSpPr>
        <p:spPr>
          <a:xfrm>
            <a:off x="640080" y="4617720"/>
            <a:ext cx="3657600" cy="1691640"/>
          </a:xfrm>
          <a:prstGeom prst="rect">
            <a:avLst/>
          </a:prstGeom>
          <a:solidFill>
            <a:srgbClr val="3A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617720"/>
            <a:ext cx="45720" cy="169164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782312"/>
            <a:ext cx="3200400" cy="411480"/>
          </a:xfrm>
          <a:prstGeom prst="rect">
            <a:avLst/>
          </a:prstGeom>
          <a:noFill/>
        </p:spPr>
        <p:txBody>
          <a:bodyPr wrap="square" lIns="0" rIns="0" tIns="0" bIns="0" anchor="t">
            <a:spAutoFit/>
          </a:bodyPr>
          <a:lstStyle/>
          <a:p>
            <a:pPr algn="l"/>
            <a:r>
              <a:rPr sz="1800" b="0" i="1">
                <a:solidFill>
                  <a:srgbClr val="FBF8F2"/>
                </a:solidFill>
                <a:latin typeface="Cormorant Garamond"/>
              </a:rPr>
              <a:t>Plain-language voice</a:t>
            </a:r>
          </a:p>
        </p:txBody>
      </p:sp>
      <p:sp>
        <p:nvSpPr>
          <p:cNvPr id="19" name="TextBox 18"/>
          <p:cNvSpPr txBox="1"/>
          <p:nvPr/>
        </p:nvSpPr>
        <p:spPr>
          <a:xfrm>
            <a:off x="868680" y="5257800"/>
            <a:ext cx="3200400" cy="914400"/>
          </a:xfrm>
          <a:prstGeom prst="rect">
            <a:avLst/>
          </a:prstGeom>
          <a:noFill/>
        </p:spPr>
        <p:txBody>
          <a:bodyPr wrap="square" lIns="0" rIns="0" tIns="0" bIns="0" anchor="t">
            <a:spAutoFit/>
          </a:bodyPr>
          <a:lstStyle/>
          <a:p>
            <a:pPr algn="l"/>
            <a:r>
              <a:rPr sz="1200" b="0" i="0">
                <a:solidFill>
                  <a:srgbClr val="CFD2CC"/>
                </a:solidFill>
                <a:latin typeface="Inter"/>
              </a:rPr>
              <a:t>Most copy reads corporate or legal. The few warm voices stand out immediately.</a:t>
            </a:r>
          </a:p>
        </p:txBody>
      </p:sp>
      <p:sp>
        <p:nvSpPr>
          <p:cNvPr id="20" name="Rectangle 19"/>
          <p:cNvSpPr/>
          <p:nvPr/>
        </p:nvSpPr>
        <p:spPr>
          <a:xfrm>
            <a:off x="4480560" y="4617720"/>
            <a:ext cx="3657600" cy="1691640"/>
          </a:xfrm>
          <a:prstGeom prst="rect">
            <a:avLst/>
          </a:prstGeom>
          <a:solidFill>
            <a:srgbClr val="3A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80560" y="4617720"/>
            <a:ext cx="45720" cy="169164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4782312"/>
            <a:ext cx="3200400" cy="411480"/>
          </a:xfrm>
          <a:prstGeom prst="rect">
            <a:avLst/>
          </a:prstGeom>
          <a:noFill/>
        </p:spPr>
        <p:txBody>
          <a:bodyPr wrap="square" lIns="0" rIns="0" tIns="0" bIns="0" anchor="t">
            <a:spAutoFit/>
          </a:bodyPr>
          <a:lstStyle/>
          <a:p>
            <a:pPr algn="l"/>
            <a:r>
              <a:rPr sz="1800" b="0" i="1">
                <a:solidFill>
                  <a:srgbClr val="FBF8F2"/>
                </a:solidFill>
                <a:latin typeface="Cormorant Garamond"/>
              </a:rPr>
              <a:t>Mobile fluency</a:t>
            </a:r>
          </a:p>
        </p:txBody>
      </p:sp>
      <p:sp>
        <p:nvSpPr>
          <p:cNvPr id="23" name="TextBox 22"/>
          <p:cNvSpPr txBox="1"/>
          <p:nvPr/>
        </p:nvSpPr>
        <p:spPr>
          <a:xfrm>
            <a:off x="4709160" y="5257800"/>
            <a:ext cx="3200400" cy="914400"/>
          </a:xfrm>
          <a:prstGeom prst="rect">
            <a:avLst/>
          </a:prstGeom>
          <a:noFill/>
        </p:spPr>
        <p:txBody>
          <a:bodyPr wrap="square" lIns="0" rIns="0" tIns="0" bIns="0" anchor="t">
            <a:spAutoFit/>
          </a:bodyPr>
          <a:lstStyle/>
          <a:p>
            <a:pPr algn="l"/>
            <a:r>
              <a:rPr sz="1200" b="0" i="0">
                <a:solidFill>
                  <a:srgbClr val="CFD2CC"/>
                </a:solidFill>
                <a:latin typeface="Inter"/>
              </a:rPr>
              <a:t>Many sites visibly have not been touched for mobile in years.</a:t>
            </a:r>
          </a:p>
        </p:txBody>
      </p:sp>
      <p:sp>
        <p:nvSpPr>
          <p:cNvPr id="24" name="Rectangle 23"/>
          <p:cNvSpPr/>
          <p:nvPr/>
        </p:nvSpPr>
        <p:spPr>
          <a:xfrm>
            <a:off x="8321040" y="4617720"/>
            <a:ext cx="3657600" cy="1691640"/>
          </a:xfrm>
          <a:prstGeom prst="rect">
            <a:avLst/>
          </a:prstGeom>
          <a:solidFill>
            <a:srgbClr val="3A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0" y="4617720"/>
            <a:ext cx="45720" cy="169164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49640" y="4782312"/>
            <a:ext cx="3200400" cy="411480"/>
          </a:xfrm>
          <a:prstGeom prst="rect">
            <a:avLst/>
          </a:prstGeom>
          <a:noFill/>
        </p:spPr>
        <p:txBody>
          <a:bodyPr wrap="square" lIns="0" rIns="0" tIns="0" bIns="0" anchor="t">
            <a:spAutoFit/>
          </a:bodyPr>
          <a:lstStyle/>
          <a:p>
            <a:pPr algn="l"/>
            <a:r>
              <a:rPr sz="1800" b="0" i="1">
                <a:solidFill>
                  <a:srgbClr val="FBF8F2"/>
                </a:solidFill>
                <a:latin typeface="Cormorant Garamond"/>
              </a:rPr>
              <a:t>Visible LP economics</a:t>
            </a:r>
          </a:p>
        </p:txBody>
      </p:sp>
      <p:sp>
        <p:nvSpPr>
          <p:cNvPr id="27" name="TextBox 26"/>
          <p:cNvSpPr txBox="1"/>
          <p:nvPr/>
        </p:nvSpPr>
        <p:spPr>
          <a:xfrm>
            <a:off x="8549640" y="5257800"/>
            <a:ext cx="3200400" cy="914400"/>
          </a:xfrm>
          <a:prstGeom prst="rect">
            <a:avLst/>
          </a:prstGeom>
          <a:noFill/>
        </p:spPr>
        <p:txBody>
          <a:bodyPr wrap="square" lIns="0" rIns="0" tIns="0" bIns="0" anchor="t">
            <a:spAutoFit/>
          </a:bodyPr>
          <a:lstStyle/>
          <a:p>
            <a:pPr algn="l"/>
            <a:r>
              <a:rPr sz="1200" b="0" i="0">
                <a:solidFill>
                  <a:srgbClr val="CFD2CC"/>
                </a:solidFill>
                <a:latin typeface="Inter"/>
              </a:rPr>
              <a:t>Industry-standard 2 and 20 is assumed everywhere, stated nowhere.</a:t>
            </a:r>
          </a:p>
        </p:txBody>
      </p:sp>
      <p:sp>
        <p:nvSpPr>
          <p:cNvPr id="28" name="TextBox 27"/>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Field gaps as differentiators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502920"/>
            <a:ext cx="10972800" cy="640080"/>
          </a:xfrm>
          <a:prstGeom prst="rect">
            <a:avLst/>
          </a:prstGeom>
          <a:noFill/>
        </p:spPr>
        <p:txBody>
          <a:bodyPr wrap="square" lIns="0" rIns="0" tIns="0" bIns="0" anchor="t">
            <a:spAutoFit/>
          </a:bodyPr>
          <a:lstStyle/>
          <a:p>
            <a:pPr algn="l"/>
            <a:r>
              <a:rPr sz="3800" b="0" i="1">
                <a:solidFill>
                  <a:srgbClr val="2F3E34"/>
                </a:solidFill>
                <a:latin typeface="Cormorant Garamond"/>
              </a:rPr>
              <a:t>Worth studying.</a:t>
            </a:r>
          </a:p>
        </p:txBody>
      </p:sp>
      <p:sp>
        <p:nvSpPr>
          <p:cNvPr id="3" name="Rectangle 2"/>
          <p:cNvSpPr/>
          <p:nvPr/>
        </p:nvSpPr>
        <p:spPr>
          <a:xfrm>
            <a:off x="640080" y="1188720"/>
            <a:ext cx="914400" cy="27432"/>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10972800" cy="411480"/>
          </a:xfrm>
          <a:prstGeom prst="rect">
            <a:avLst/>
          </a:prstGeom>
          <a:noFill/>
        </p:spPr>
        <p:txBody>
          <a:bodyPr wrap="square" lIns="0" rIns="0" tIns="0" bIns="0" anchor="t">
            <a:spAutoFit/>
          </a:bodyPr>
          <a:lstStyle/>
          <a:p>
            <a:pPr algn="l"/>
            <a:r>
              <a:rPr sz="1400" b="0" i="1">
                <a:solidFill>
                  <a:srgbClr val="7E8E84"/>
                </a:solidFill>
                <a:latin typeface="Inter"/>
              </a:rPr>
              <a:t>Six pages do something distinctive that translates to our own join.html.</a:t>
            </a:r>
          </a:p>
        </p:txBody>
      </p:sp>
      <p:sp>
        <p:nvSpPr>
          <p:cNvPr id="5" name="Rectangle 4"/>
          <p:cNvSpPr/>
          <p:nvPr/>
        </p:nvSpPr>
        <p:spPr>
          <a:xfrm>
            <a:off x="640080" y="1947672"/>
            <a:ext cx="164592" cy="45720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39"/>
            <a:ext cx="3108960" cy="548640"/>
          </a:xfrm>
          <a:prstGeom prst="rect">
            <a:avLst/>
          </a:prstGeom>
          <a:noFill/>
        </p:spPr>
        <p:txBody>
          <a:bodyPr wrap="square" lIns="0" rIns="0" tIns="0" bIns="0" anchor="ctr">
            <a:spAutoFit/>
          </a:bodyPr>
          <a:lstStyle/>
          <a:p>
            <a:pPr algn="l"/>
            <a:r>
              <a:rPr sz="2200" b="0" i="1">
                <a:solidFill>
                  <a:srgbClr val="2F3E34"/>
                </a:solidFill>
                <a:latin typeface="Cormorant Garamond"/>
              </a:rPr>
              <a:t>Golden Seeds</a:t>
            </a:r>
          </a:p>
        </p:txBody>
      </p:sp>
      <p:sp>
        <p:nvSpPr>
          <p:cNvPr id="7" name="TextBox 6"/>
          <p:cNvSpPr txBox="1"/>
          <p:nvPr/>
        </p:nvSpPr>
        <p:spPr>
          <a:xfrm>
            <a:off x="4160520" y="1920239"/>
            <a:ext cx="7498079" cy="594360"/>
          </a:xfrm>
          <a:prstGeom prst="rect">
            <a:avLst/>
          </a:prstGeom>
          <a:noFill/>
        </p:spPr>
        <p:txBody>
          <a:bodyPr wrap="square" lIns="0" rIns="0" tIns="0" bIns="0" anchor="ctr">
            <a:spAutoFit/>
          </a:bodyPr>
          <a:lstStyle/>
          <a:p>
            <a:pPr algn="l"/>
            <a:r>
              <a:rPr sz="1300" b="0" i="0">
                <a:solidFill>
                  <a:srgbClr val="2F3E34"/>
                </a:solidFill>
                <a:latin typeface="Inter"/>
              </a:rPr>
              <a:t>Cleanest two-door split: founder and member sub-navigation each have their own ladder.</a:t>
            </a:r>
          </a:p>
        </p:txBody>
      </p:sp>
      <p:sp>
        <p:nvSpPr>
          <p:cNvPr id="8" name="Rectangle 7"/>
          <p:cNvSpPr/>
          <p:nvPr/>
        </p:nvSpPr>
        <p:spPr>
          <a:xfrm>
            <a:off x="640080" y="2660904"/>
            <a:ext cx="164592" cy="45720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33472"/>
            <a:ext cx="3108960" cy="548640"/>
          </a:xfrm>
          <a:prstGeom prst="rect">
            <a:avLst/>
          </a:prstGeom>
          <a:noFill/>
        </p:spPr>
        <p:txBody>
          <a:bodyPr wrap="square" lIns="0" rIns="0" tIns="0" bIns="0" anchor="ctr">
            <a:spAutoFit/>
          </a:bodyPr>
          <a:lstStyle/>
          <a:p>
            <a:pPr algn="l"/>
            <a:r>
              <a:rPr sz="2200" b="0" i="1">
                <a:solidFill>
                  <a:srgbClr val="2F3E34"/>
                </a:solidFill>
                <a:latin typeface="Cormorant Garamond"/>
              </a:rPr>
              <a:t>Brydge Club</a:t>
            </a:r>
          </a:p>
        </p:txBody>
      </p:sp>
      <p:sp>
        <p:nvSpPr>
          <p:cNvPr id="10" name="TextBox 9"/>
          <p:cNvSpPr txBox="1"/>
          <p:nvPr/>
        </p:nvSpPr>
        <p:spPr>
          <a:xfrm>
            <a:off x="4160520" y="2633472"/>
            <a:ext cx="7498079" cy="594360"/>
          </a:xfrm>
          <a:prstGeom prst="rect">
            <a:avLst/>
          </a:prstGeom>
          <a:noFill/>
        </p:spPr>
        <p:txBody>
          <a:bodyPr wrap="square" lIns="0" rIns="0" tIns="0" bIns="0" anchor="ctr">
            <a:spAutoFit/>
          </a:bodyPr>
          <a:lstStyle/>
          <a:p>
            <a:pPr algn="l"/>
            <a:r>
              <a:rPr sz="1300" b="0" i="0">
                <a:solidFill>
                  <a:srgbClr val="2F3E34"/>
                </a:solidFill>
                <a:latin typeface="Inter"/>
              </a:rPr>
              <a:t>Tightest investor-only pitch in the set. Cohort-based application reads as scarcity-driven.</a:t>
            </a:r>
          </a:p>
        </p:txBody>
      </p:sp>
      <p:sp>
        <p:nvSpPr>
          <p:cNvPr id="11" name="Rectangle 10"/>
          <p:cNvSpPr/>
          <p:nvPr/>
        </p:nvSpPr>
        <p:spPr>
          <a:xfrm>
            <a:off x="640080" y="3374136"/>
            <a:ext cx="164592" cy="45720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46703"/>
            <a:ext cx="3108960" cy="548640"/>
          </a:xfrm>
          <a:prstGeom prst="rect">
            <a:avLst/>
          </a:prstGeom>
          <a:noFill/>
        </p:spPr>
        <p:txBody>
          <a:bodyPr wrap="square" lIns="0" rIns="0" tIns="0" bIns="0" anchor="ctr">
            <a:spAutoFit/>
          </a:bodyPr>
          <a:lstStyle/>
          <a:p>
            <a:pPr algn="l"/>
            <a:r>
              <a:rPr sz="2200" b="0" i="1">
                <a:solidFill>
                  <a:srgbClr val="2F3E34"/>
                </a:solidFill>
                <a:latin typeface="Cormorant Garamond"/>
              </a:rPr>
              <a:t>Hustle Fund / Angel Squad</a:t>
            </a:r>
          </a:p>
        </p:txBody>
      </p:sp>
      <p:sp>
        <p:nvSpPr>
          <p:cNvPr id="13" name="TextBox 12"/>
          <p:cNvSpPr txBox="1"/>
          <p:nvPr/>
        </p:nvSpPr>
        <p:spPr>
          <a:xfrm>
            <a:off x="4160520" y="3346703"/>
            <a:ext cx="7498079" cy="594360"/>
          </a:xfrm>
          <a:prstGeom prst="rect">
            <a:avLst/>
          </a:prstGeom>
          <a:noFill/>
        </p:spPr>
        <p:txBody>
          <a:bodyPr wrap="square" lIns="0" rIns="0" tIns="0" bIns="0" anchor="ctr">
            <a:spAutoFit/>
          </a:bodyPr>
          <a:lstStyle/>
          <a:p>
            <a:pPr algn="l"/>
            <a:r>
              <a:rPr sz="1300" b="0" i="0">
                <a:solidFill>
                  <a:srgbClr val="2F3E34"/>
                </a:solidFill>
                <a:latin typeface="Inter"/>
              </a:rPr>
              <a:t>Voice and content depth: newsletters, books, events, blog. Free resources as a funnel.</a:t>
            </a:r>
          </a:p>
        </p:txBody>
      </p:sp>
      <p:sp>
        <p:nvSpPr>
          <p:cNvPr id="14" name="Rectangle 13"/>
          <p:cNvSpPr/>
          <p:nvPr/>
        </p:nvSpPr>
        <p:spPr>
          <a:xfrm>
            <a:off x="640080" y="4087368"/>
            <a:ext cx="164592" cy="45720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59935"/>
            <a:ext cx="3108960" cy="548640"/>
          </a:xfrm>
          <a:prstGeom prst="rect">
            <a:avLst/>
          </a:prstGeom>
          <a:noFill/>
        </p:spPr>
        <p:txBody>
          <a:bodyPr wrap="square" lIns="0" rIns="0" tIns="0" bIns="0" anchor="ctr">
            <a:spAutoFit/>
          </a:bodyPr>
          <a:lstStyle/>
          <a:p>
            <a:pPr algn="l"/>
            <a:r>
              <a:rPr sz="2200" b="0" i="1">
                <a:solidFill>
                  <a:srgbClr val="2F3E34"/>
                </a:solidFill>
                <a:latin typeface="Cormorant Garamond"/>
              </a:rPr>
              <a:t>The Helm</a:t>
            </a:r>
          </a:p>
        </p:txBody>
      </p:sp>
      <p:sp>
        <p:nvSpPr>
          <p:cNvPr id="16" name="TextBox 15"/>
          <p:cNvSpPr txBox="1"/>
          <p:nvPr/>
        </p:nvSpPr>
        <p:spPr>
          <a:xfrm>
            <a:off x="4160520" y="4059935"/>
            <a:ext cx="7498079" cy="594360"/>
          </a:xfrm>
          <a:prstGeom prst="rect">
            <a:avLst/>
          </a:prstGeom>
          <a:noFill/>
        </p:spPr>
        <p:txBody>
          <a:bodyPr wrap="square" lIns="0" rIns="0" tIns="0" bIns="0" anchor="ctr">
            <a:spAutoFit/>
          </a:bodyPr>
          <a:lstStyle/>
          <a:p>
            <a:pPr algn="l"/>
            <a:r>
              <a:rPr sz="1300" b="0" i="0">
                <a:solidFill>
                  <a:srgbClr val="2F3E34"/>
                </a:solidFill>
                <a:latin typeface="Inter"/>
              </a:rPr>
              <a:t>Combines fund, syndicate, and editorial brand. Single CTA ladder for founders and LPs.</a:t>
            </a:r>
          </a:p>
        </p:txBody>
      </p:sp>
      <p:sp>
        <p:nvSpPr>
          <p:cNvPr id="17" name="Rectangle 16"/>
          <p:cNvSpPr/>
          <p:nvPr/>
        </p:nvSpPr>
        <p:spPr>
          <a:xfrm>
            <a:off x="640080" y="4800600"/>
            <a:ext cx="164592" cy="457200"/>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73168"/>
            <a:ext cx="3108960" cy="548640"/>
          </a:xfrm>
          <a:prstGeom prst="rect">
            <a:avLst/>
          </a:prstGeom>
          <a:noFill/>
        </p:spPr>
        <p:txBody>
          <a:bodyPr wrap="square" lIns="0" rIns="0" tIns="0" bIns="0" anchor="ctr">
            <a:spAutoFit/>
          </a:bodyPr>
          <a:lstStyle/>
          <a:p>
            <a:pPr algn="l"/>
            <a:r>
              <a:rPr sz="2200" b="0" i="1">
                <a:solidFill>
                  <a:srgbClr val="2F3E34"/>
                </a:solidFill>
                <a:latin typeface="Cormorant Garamond"/>
              </a:rPr>
              <a:t>Frontier Angels</a:t>
            </a:r>
          </a:p>
        </p:txBody>
      </p:sp>
      <p:sp>
        <p:nvSpPr>
          <p:cNvPr id="19" name="TextBox 18"/>
          <p:cNvSpPr txBox="1"/>
          <p:nvPr/>
        </p:nvSpPr>
        <p:spPr>
          <a:xfrm>
            <a:off x="4160520" y="4773168"/>
            <a:ext cx="7498079" cy="594360"/>
          </a:xfrm>
          <a:prstGeom prst="rect">
            <a:avLst/>
          </a:prstGeom>
          <a:noFill/>
        </p:spPr>
        <p:txBody>
          <a:bodyPr wrap="square" lIns="0" rIns="0" tIns="0" bIns="0" anchor="ctr">
            <a:spAutoFit/>
          </a:bodyPr>
          <a:lstStyle/>
          <a:p>
            <a:pPr algn="l"/>
            <a:r>
              <a:rPr sz="1300" b="0" i="0">
                <a:solidFill>
                  <a:srgbClr val="2F3E34"/>
                </a:solidFill>
                <a:latin typeface="Inter"/>
              </a:rPr>
              <a:t>Strong regional angle. The 'we do not invest in' section saves both sides time.</a:t>
            </a:r>
          </a:p>
        </p:txBody>
      </p:sp>
      <p:sp>
        <p:nvSpPr>
          <p:cNvPr id="20" name="Rectangle 19"/>
          <p:cNvSpPr/>
          <p:nvPr/>
        </p:nvSpPr>
        <p:spPr>
          <a:xfrm>
            <a:off x="640080" y="5513832"/>
            <a:ext cx="164592" cy="457200"/>
          </a:xfrm>
          <a:prstGeom prst="rect">
            <a:avLst/>
          </a:prstGeom>
          <a:solidFill>
            <a:srgbClr val="7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86400"/>
            <a:ext cx="3108960" cy="548640"/>
          </a:xfrm>
          <a:prstGeom prst="rect">
            <a:avLst/>
          </a:prstGeom>
          <a:noFill/>
        </p:spPr>
        <p:txBody>
          <a:bodyPr wrap="square" lIns="0" rIns="0" tIns="0" bIns="0" anchor="ctr">
            <a:spAutoFit/>
          </a:bodyPr>
          <a:lstStyle/>
          <a:p>
            <a:pPr algn="l"/>
            <a:r>
              <a:rPr sz="2200" b="0" i="1">
                <a:solidFill>
                  <a:srgbClr val="2F3E34"/>
                </a:solidFill>
                <a:latin typeface="Cormorant Garamond"/>
              </a:rPr>
              <a:t>Tidal River Fund</a:t>
            </a:r>
          </a:p>
        </p:txBody>
      </p:sp>
      <p:sp>
        <p:nvSpPr>
          <p:cNvPr id="22" name="TextBox 21"/>
          <p:cNvSpPr txBox="1"/>
          <p:nvPr/>
        </p:nvSpPr>
        <p:spPr>
          <a:xfrm>
            <a:off x="4160520" y="5486400"/>
            <a:ext cx="7498079" cy="594360"/>
          </a:xfrm>
          <a:prstGeom prst="rect">
            <a:avLst/>
          </a:prstGeom>
          <a:noFill/>
        </p:spPr>
        <p:txBody>
          <a:bodyPr wrap="square" lIns="0" rIns="0" tIns="0" bIns="0" anchor="ctr">
            <a:spAutoFit/>
          </a:bodyPr>
          <a:lstStyle/>
          <a:p>
            <a:pPr algn="l"/>
            <a:r>
              <a:rPr sz="1300" b="0" i="0">
                <a:solidFill>
                  <a:srgbClr val="2F3E34"/>
                </a:solidFill>
                <a:latin typeface="Inter"/>
              </a:rPr>
              <a:t>Crisp tagline, honest about scale (a $1M fund), open geography despite the regional name.</a:t>
            </a:r>
          </a:p>
        </p:txBody>
      </p:sp>
      <p:sp>
        <p:nvSpPr>
          <p:cNvPr id="23" name="TextBox 22"/>
          <p:cNvSpPr txBox="1"/>
          <p:nvPr/>
        </p:nvSpPr>
        <p:spPr>
          <a:xfrm>
            <a:off x="548640" y="6446520"/>
            <a:ext cx="11064240" cy="274320"/>
          </a:xfrm>
          <a:prstGeom prst="rect">
            <a:avLst/>
          </a:prstGeom>
          <a:noFill/>
        </p:spPr>
        <p:txBody>
          <a:bodyPr wrap="square" lIns="0" rIns="0" tIns="0" bIns="0" anchor="t">
            <a:spAutoFit/>
          </a:bodyPr>
          <a:lstStyle/>
          <a:p>
            <a:pPr algn="l"/>
            <a:r>
              <a:rPr sz="900" b="0" i="1">
                <a:solidFill>
                  <a:srgbClr val="7E8E84"/>
                </a:solidFill>
                <a:latin typeface="Inter"/>
              </a:rPr>
              <a:t>Silver &amp; Salt Capital</a:t>
            </a:r>
            <a:r>
              <a:rPr sz="900" b="0" i="0">
                <a:solidFill>
                  <a:srgbClr val="7E8E84"/>
                </a:solidFill>
                <a:latin typeface="Inter"/>
              </a:rPr>
              <a:t>   ·   </a:t>
            </a:r>
            <a:r>
              <a:rPr sz="900" b="0" i="0">
                <a:solidFill>
                  <a:srgbClr val="7E8E84"/>
                </a:solidFill>
                <a:latin typeface="Inter"/>
              </a:rPr>
              <a:t>Six pages worth a closer 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1097280" y="1645920"/>
            <a:ext cx="10058400" cy="2926080"/>
          </a:xfrm>
          <a:prstGeom prst="rect">
            <a:avLst/>
          </a:prstGeom>
          <a:noFill/>
        </p:spPr>
        <p:txBody>
          <a:bodyPr wrap="square" lIns="0" rIns="0" tIns="0" bIns="0" anchor="t">
            <a:spAutoFit/>
          </a:bodyPr>
          <a:lstStyle/>
          <a:p>
            <a:pPr algn="l"/>
            <a:r>
              <a:rPr sz="3400" b="0" i="1">
                <a:solidFill>
                  <a:srgbClr val="2F3E34"/>
                </a:solidFill>
                <a:latin typeface="Cormorant Garamond"/>
              </a:rPr>
              <a:t>Most sites in the field are built around a fork in the road.</a:t>
            </a:r>
          </a:p>
          <a:p>
            <a:pPr algn="l"/>
            <a:r>
              <a:rPr sz="3400" b="0" i="1">
                <a:solidFill>
                  <a:srgbClr val="2F3E34"/>
                </a:solidFill>
                <a:latin typeface="Cormorant Garamond"/>
              </a:rPr>
              <a:t>We are building one path, with the numbers visible.</a:t>
            </a:r>
          </a:p>
        </p:txBody>
      </p:sp>
      <p:sp>
        <p:nvSpPr>
          <p:cNvPr id="3" name="Rectangle 2"/>
          <p:cNvSpPr/>
          <p:nvPr/>
        </p:nvSpPr>
        <p:spPr>
          <a:xfrm>
            <a:off x="1097280" y="4846320"/>
            <a:ext cx="914400" cy="36576"/>
          </a:xfrm>
          <a:prstGeom prst="rect">
            <a:avLst/>
          </a:prstGeom>
          <a:solidFill>
            <a:srgbClr val="D1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5029200"/>
            <a:ext cx="10058400" cy="365760"/>
          </a:xfrm>
          <a:prstGeom prst="rect">
            <a:avLst/>
          </a:prstGeom>
          <a:noFill/>
        </p:spPr>
        <p:txBody>
          <a:bodyPr wrap="square" lIns="0" rIns="0" tIns="0" bIns="0" anchor="t">
            <a:spAutoFit/>
          </a:bodyPr>
          <a:lstStyle/>
          <a:p>
            <a:pPr algn="l"/>
            <a:r>
              <a:rPr sz="1100" b="0" i="1">
                <a:solidFill>
                  <a:srgbClr val="7E8E84"/>
                </a:solidFill>
                <a:latin typeface="Inter"/>
              </a:rPr>
              <a:t>Source: _research/landing-pages-2026-04.md</a:t>
            </a:r>
          </a:p>
        </p:txBody>
      </p:sp>
      <p:sp>
        <p:nvSpPr>
          <p:cNvPr id="5" name="TextBox 4"/>
          <p:cNvSpPr txBox="1"/>
          <p:nvPr/>
        </p:nvSpPr>
        <p:spPr>
          <a:xfrm>
            <a:off x="8686800" y="4114800"/>
            <a:ext cx="3657600" cy="3657600"/>
          </a:xfrm>
          <a:prstGeom prst="rect">
            <a:avLst/>
          </a:prstGeom>
          <a:noFill/>
        </p:spPr>
        <p:txBody>
          <a:bodyPr wrap="square" lIns="0" rIns="0" tIns="0" bIns="0" anchor="t">
            <a:spAutoFit/>
          </a:bodyPr>
          <a:lstStyle/>
          <a:p>
            <a:pPr algn="l"/>
            <a:r>
              <a:rPr sz="42000" b="0" i="0">
                <a:solidFill>
                  <a:srgbClr val="ECE7DB"/>
                </a:solidFill>
                <a:latin typeface="Cormorant Garamond"/>
              </a:rPr>
              <a:t>&amp;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