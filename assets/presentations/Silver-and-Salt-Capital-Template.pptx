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pic>
        <p:nvPicPr>
          <p:cNvPr id="4" name="Picture 3" descr="ssc-primary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822960"/>
            <a:ext cx="3113956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" y="233172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6800" b="0" i="0" spc="-40">
                <a:solidFill>
                  <a:srgbClr val="F0EDE7"/>
                </a:solidFill>
                <a:latin typeface="Cormorant Garamond"/>
              </a:rPr>
              <a:t>Presentation Title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0" i="1">
                <a:solidFill>
                  <a:srgbClr val="7E8E84"/>
                </a:solidFill>
                <a:latin typeface="Cormorant Garamond"/>
              </a:rPr>
              <a:t>A calm, declarative subtitle goes on this second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120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 i="1">
                <a:solidFill>
                  <a:srgbClr val="7E8E84"/>
                </a:solidFill>
                <a:latin typeface="Cormorant Garamond"/>
              </a:rPr>
              <a:t>Connecting capital to Utah founders who use it best.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1487" y="523036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 spc="240">
                <a:solidFill>
                  <a:srgbClr val="7E8E84"/>
                </a:solidFill>
                <a:latin typeface="Hanken Grotesk"/>
              </a:rPr>
              <a:t>MONTH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0">
                <a:solidFill>
                  <a:srgbClr val="F3F1EA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0" i="0" spc="-40">
                <a:solidFill>
                  <a:srgbClr val="2F3E34"/>
                </a:solidFill>
                <a:latin typeface="Cormorant Garamond"/>
              </a:rPr>
              <a:t>What we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8" y="2331720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8" y="2331720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Why Utah, why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099816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18104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3118104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Our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3118104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Where capital meets conviction.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886200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04488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3904488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3904488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The model, in plain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672584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90872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8" y="4690872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The 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4690872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What the data shows.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5458968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477256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D16B4F"/>
                </a:solidFill>
                <a:latin typeface="Cormorant Infan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5477256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Join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8" y="5477256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Where you fit, and what comes next.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6245352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00">
                <a:solidFill>
                  <a:srgbClr val="D97B61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0" b="0" i="0" spc="-200">
                <a:solidFill>
                  <a:srgbClr val="F0EDE7"/>
                </a:solidFill>
                <a:latin typeface="Cormorant Infan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60520"/>
            <a:ext cx="822960" cy="27940"/>
          </a:xfrm>
          <a:prstGeom prst="rect">
            <a:avLst/>
          </a:prstGeom>
          <a:solidFill>
            <a:srgbClr val="F0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0" i="0" spc="-40">
                <a:solidFill>
                  <a:srgbClr val="F0EDE7"/>
                </a:solidFill>
                <a:latin typeface="Cormorant Garamond"/>
              </a:rPr>
              <a:t>Section Title</a:t>
            </a:r>
          </a:p>
          <a:p>
            <a:pPr algn="l">
              <a:spcBef>
                <a:spcPts val="0"/>
              </a:spcBef>
            </a:pPr>
            <a:r>
              <a:rPr sz="2400" b="0" i="1">
                <a:solidFill>
                  <a:srgbClr val="F5E2DA"/>
                </a:solidFill>
                <a:latin typeface="Cormorant Garamond"/>
              </a:rPr>
              <a:t>One line that frames what this section is about.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A heading that states the point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Lead with the idea in one calm sentence. Short, declarative, confident.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Use the body style for supporting detail. Generous spacing, easy to read from the back of the room.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Each point earns its place. When a line wants a dash, it usually wants to be two sentences instead.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9718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246120"/>
            <a:ext cx="301752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1">
                <a:solidFill>
                  <a:srgbClr val="2F3E34"/>
                </a:solidFill>
                <a:latin typeface="Cormorant Garamond"/>
              </a:rPr>
              <a:t>A supporting stat or callout sits here.</a:t>
            </a:r>
          </a:p>
          <a:p>
            <a:pPr algn="l">
              <a:spcBef>
                <a:spcPts val="0"/>
              </a:spcBef>
            </a:pPr>
            <a:r>
              <a:rPr sz="1300" b="0" i="0" spc="40">
                <a:solidFill>
                  <a:srgbClr val="7E8E84"/>
                </a:solidFill>
                <a:latin typeface="Hanken Grotesk"/>
              </a:rPr>
              <a:t>Source name</a:t>
            </a:r>
          </a:p>
        </p:txBody>
      </p:sp>
      <p:pic>
        <p:nvPicPr>
          <p:cNvPr id="9" name="Picture 8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Two ideas,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743200"/>
            <a:ext cx="64008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260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2F3E34"/>
                </a:solidFill>
                <a:latin typeface="Cormorant Garamond"/>
              </a:rPr>
              <a:t>Column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Open with the positive. State what this is, plainly, then give two or three lines of supporting detail underneath.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43200"/>
            <a:ext cx="640080" cy="2794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9260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2F3E34"/>
                </a:solidFill>
                <a:latin typeface="Cormorant Garamond"/>
              </a:rPr>
              <a:t>Column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61188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Mirror the structure on the right. Balanced columns read as calm and considered, which is exactly the brand voice.</a:t>
            </a:r>
          </a:p>
        </p:txBody>
      </p:sp>
      <p:pic>
        <p:nvPicPr>
          <p:cNvPr id="11" name="Picture 10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0">
                <a:solidFill>
                  <a:srgbClr val="EAE6DD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What the data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D16B4F"/>
                </a:solidFill>
                <a:latin typeface="Cormorant Infant"/>
              </a:rPr>
              <a:t>#3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43400"/>
            <a:ext cx="548640" cy="254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Utah's rank to start a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2F3E34"/>
                </a:solidFill>
                <a:latin typeface="Cormorant Infant"/>
              </a:rPr>
              <a:t>#50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343400"/>
            <a:ext cx="548640" cy="254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Utah's rank for women's equality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D16B4F"/>
                </a:solidFill>
                <a:latin typeface="Cormorant Infant"/>
              </a:rPr>
              <a:t>169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343400"/>
            <a:ext cx="548640" cy="254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An example headline figure</a:t>
            </a:r>
          </a:p>
        </p:txBody>
      </p:sp>
      <p:pic>
        <p:nvPicPr>
          <p:cNvPr id="15" name="Picture 14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6304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0" b="0" i="0">
                <a:solidFill>
                  <a:srgbClr val="D16B4F"/>
                </a:solidFill>
                <a:latin typeface="Cormorant Garamond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95097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200" b="0" i="1">
                <a:solidFill>
                  <a:srgbClr val="F0EDE7"/>
                </a:solidFill>
                <a:latin typeface="Cormorant Garamond"/>
              </a:rPr>
              <a:t>A pull quote sits here, set large and italic in Cormorant Garamond. It carries weight because it is given room to breathe.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440680"/>
            <a:ext cx="457200" cy="2540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28523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 spc="120">
                <a:solidFill>
                  <a:srgbClr val="7E8E84"/>
                </a:solidFill>
                <a:latin typeface="Hanken Grotesk"/>
              </a:rPr>
              <a:t>Attribution, Title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0" i="0" spc="100">
                <a:solidFill>
                  <a:srgbClr val="7E8E84"/>
                </a:solidFill>
                <a:latin typeface="Hanken Grotesk"/>
              </a:rPr>
              <a:t>Replace with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64592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000" b="0" i="0" spc="-40">
                <a:solidFill>
                  <a:srgbClr val="2F3E34"/>
                </a:solidFill>
                <a:latin typeface="Cormorant Garamond"/>
              </a:rPr>
              <a:t>A picture, then the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3200400"/>
            <a:ext cx="64008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52044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Pair a full-bleed image on the left with a tight column of copy on the right. Let the image do the emotional work and keep the words quiet underneath it.</a:t>
            </a:r>
          </a:p>
        </p:txBody>
      </p:sp>
      <p:pic>
        <p:nvPicPr>
          <p:cNvPr id="9" name="Picture 8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THE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Three of something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D16B4F"/>
                </a:solidFill>
                <a:latin typeface="Cormorant Infan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First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A short description that explains this one item in two calm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D16B4F"/>
                </a:solidFill>
                <a:latin typeface="Cormorant Infan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Second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Keep each card parallel in length so the row reads as one considered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D16B4F"/>
                </a:solidFill>
                <a:latin typeface="Cormorant Infan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Third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End on the strongest of the three. Define each by what it is.</a:t>
            </a:r>
          </a:p>
        </p:txBody>
      </p:sp>
      <p:pic>
        <p:nvPicPr>
          <p:cNvPr id="17" name="Picture 16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0" b="0" i="0" spc="-200">
                <a:solidFill>
                  <a:srgbClr val="D16B4F"/>
                </a:solidFill>
                <a:latin typeface="Cormorant Infan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60520"/>
            <a:ext cx="822960" cy="27940"/>
          </a:xfrm>
          <a:prstGeom prst="rect">
            <a:avLst/>
          </a:prstGeom>
          <a:solidFill>
            <a:srgbClr val="D1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0" i="0" spc="-40">
                <a:solidFill>
                  <a:srgbClr val="F0EDE7"/>
                </a:solidFill>
                <a:latin typeface="Cormorant Garamond"/>
              </a:rPr>
              <a:t>Second Section</a:t>
            </a:r>
          </a:p>
          <a:p>
            <a:pPr algn="l">
              <a:spcBef>
                <a:spcPts val="0"/>
              </a:spcBef>
            </a:pPr>
            <a:r>
              <a:rPr sz="2400" b="0" i="1">
                <a:solidFill>
                  <a:srgbClr val="7E8E84"/>
                </a:solidFill>
                <a:latin typeface="Cormorant Garamond"/>
              </a:rPr>
              <a:t>An alternate divider on the moss surface.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 i="0" spc="-30">
                <a:solidFill>
                  <a:srgbClr val="F0EDE7"/>
                </a:solidFill>
                <a:latin typeface="Cormorant Garamond"/>
              </a:rPr>
              <a:t>Utah's next generation of innovation will be shaped by founders &amp; determined by funders.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4600" b="1" i="0" spc="-30">
                <a:solidFill>
                  <a:srgbClr val="D16B4F"/>
                </a:solidFill>
                <a:latin typeface="Cormorant Garamond"/>
              </a:rPr>
              <a:t>It's time more of them are women.</a:t>
            </a:r>
          </a:p>
        </p:txBody>
      </p:sp>
      <p:pic>
        <p:nvPicPr>
          <p:cNvPr id="5" name="Picture 4" descr="ssc-primary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617720"/>
            <a:ext cx="2611705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4207" y="457200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 spc="140">
                <a:solidFill>
                  <a:srgbClr val="D16B4F"/>
                </a:solidFill>
                <a:latin typeface="Hanken Grotesk"/>
              </a:rPr>
              <a:t>Join Us</a:t>
            </a:r>
          </a:p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0EDE7"/>
                </a:solidFill>
                <a:latin typeface="Hanken Grotesk"/>
              </a:rPr>
              <a:t>silverandsaltcapital.com</a:t>
            </a:r>
          </a:p>
          <a:p>
            <a:pPr algn="r">
              <a:spcBef>
                <a:spcPts val="0"/>
              </a:spcBef>
            </a:pPr>
            <a:r>
              <a:rPr sz="1500" b="0" i="0">
                <a:solidFill>
                  <a:srgbClr val="7E8E84"/>
                </a:solidFill>
                <a:latin typeface="Hanken Grotesk"/>
              </a:rPr>
              <a:t>tori@silverandsaltcapital.com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D16B4F"/>
                </a:solidFill>
                <a:latin typeface="Hanken Grotesk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Palette &amp;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F3E34"/>
                </a:solidFill>
                <a:latin typeface="Hanken Grotesk"/>
              </a:rPr>
              <a:t>Cream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F3E34"/>
                </a:solidFill>
                <a:latin typeface="Cormorant Infant"/>
              </a:rPr>
              <a:t>#FBF8F2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6712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F4EFE6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7685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F3E34"/>
                </a:solidFill>
                <a:latin typeface="Hanken Grotesk"/>
              </a:rPr>
              <a:t>Sand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F3E34"/>
                </a:solidFill>
                <a:latin typeface="Cormorant Infant"/>
              </a:rPr>
              <a:t>#F4EFE6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2F3E34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0EDE7"/>
                </a:solidFill>
                <a:latin typeface="Hanken Grotesk"/>
              </a:rPr>
              <a:t>Moss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0EDE7"/>
                </a:solidFill>
                <a:latin typeface="Cormorant Infant"/>
              </a:rPr>
              <a:t>#2F3E34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1888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4A5E50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861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0EDE7"/>
                </a:solidFill>
                <a:latin typeface="Hanken Grotesk"/>
              </a:rPr>
              <a:t>Moss Light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0EDE7"/>
                </a:solidFill>
                <a:latin typeface="Cormorant Infant"/>
              </a:rPr>
              <a:t>#4A5E50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7E8E84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0EDE7"/>
                </a:solidFill>
                <a:latin typeface="Hanken Grotesk"/>
              </a:rPr>
              <a:t>Sage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0EDE7"/>
                </a:solidFill>
                <a:latin typeface="Cormorant Infant"/>
              </a:rPr>
              <a:t>#7E8E84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D16B4F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037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0EDE7"/>
                </a:solidFill>
                <a:latin typeface="Hanken Grotesk"/>
              </a:rPr>
              <a:t>Rust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0EDE7"/>
                </a:solidFill>
                <a:latin typeface="Cormorant Infant"/>
              </a:rPr>
              <a:t>#D16B4F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652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E07A5E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F3E34"/>
                </a:solidFill>
                <a:latin typeface="Hanken Grotesk"/>
              </a:rPr>
              <a:t>Rust Hover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F3E34"/>
                </a:solidFill>
                <a:latin typeface="Cormorant Infant"/>
              </a:rPr>
              <a:t>#E07A5E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240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C4A47E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3213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F3E34"/>
                </a:solidFill>
                <a:latin typeface="Hanken Grotesk"/>
              </a:rPr>
              <a:t>Warm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F3E34"/>
                </a:solidFill>
                <a:latin typeface="Cormorant Infant"/>
              </a:rPr>
              <a:t>#C4A47E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297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2F3E34"/>
                </a:solidFill>
                <a:latin typeface="Cormorant Garamond"/>
              </a:rPr>
              <a:t>Cormorant Garamond  —  display, headings, quotes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983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D16B4F"/>
                </a:solidFill>
                <a:latin typeface="Cormorant Infant"/>
              </a:rPr>
              <a:t>Cormorant Infant  /  1234567890  —  numerals only (flagged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532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Hanken Grotesk  —  body, labels, and UI (Satoshi substitute in Google Slides)</a:t>
            </a:r>
          </a:p>
        </p:txBody>
      </p:sp>
      <p:pic>
        <p:nvPicPr>
          <p:cNvPr id="24" name="Picture 23" descr="ssc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