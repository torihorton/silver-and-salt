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2000">
                <a:solidFill>
                  <a:srgbClr val="3C4A40"/>
                </a:solidFill>
                <a:latin typeface="Cormorant Garamond"/>
              </a:rPr>
              <a:t>&amp;</a:t>
            </a:r>
          </a:p>
        </p:txBody>
      </p:sp>
      <p:pic>
        <p:nvPicPr>
          <p:cNvPr id="4" name="Picture 3" descr="ssc-primary-plum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822960"/>
            <a:ext cx="3113956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1248" y="2331720"/>
            <a:ext cx="822960" cy="27940"/>
          </a:xfrm>
          <a:prstGeom prst="rect">
            <a:avLst/>
          </a:prstGeom>
          <a:solidFill>
            <a:srgbClr val="B5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51460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6800" b="0" i="0" spc="-40">
                <a:solidFill>
                  <a:srgbClr val="F0EDE7"/>
                </a:solidFill>
                <a:latin typeface="Cormorant Garamond"/>
              </a:rPr>
              <a:t>Presentation Title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0" i="1">
                <a:solidFill>
                  <a:srgbClr val="7E8E84"/>
                </a:solidFill>
                <a:latin typeface="Cormorant Garamond"/>
              </a:rPr>
              <a:t>A calm, declarative subtitle goes on this second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2120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0" i="1">
                <a:solidFill>
                  <a:srgbClr val="7E8E84"/>
                </a:solidFill>
                <a:latin typeface="Cormorant Garamond"/>
              </a:rPr>
              <a:t>Connecting capital to Utah founders who use it best.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1487" y="523036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1" i="0" spc="240">
                <a:solidFill>
                  <a:srgbClr val="7E8E84"/>
                </a:solidFill>
                <a:latin typeface="Hanken Grotesk"/>
              </a:rPr>
              <a:t>MONTH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00">
                <a:solidFill>
                  <a:srgbClr val="F3F1EA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8B5E83"/>
                </a:solidFill>
                <a:latin typeface="Hanken Grotesk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0" i="0" spc="-40">
                <a:solidFill>
                  <a:srgbClr val="2F3E34"/>
                </a:solidFill>
                <a:latin typeface="Cormorant Garamond"/>
              </a:rPr>
              <a:t>What we will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8B5E83"/>
                </a:solidFill>
                <a:latin typeface="Cormorant Infan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92808" y="2331720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9008" y="2331720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Why Utah, why now.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099816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18104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8B5E83"/>
                </a:solidFill>
                <a:latin typeface="Cormorant Infan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3118104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Our 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3118104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Where capital meets conviction.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886200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04488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8B5E83"/>
                </a:solidFill>
                <a:latin typeface="Cormorant Infan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8" y="3904488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3904488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The model, in plain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4672584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90872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8B5E83"/>
                </a:solidFill>
                <a:latin typeface="Cormorant Infan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8" y="4690872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The numbers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8" y="4690872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What the data shows.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5458968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477256"/>
            <a:ext cx="8686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8B5E83"/>
                </a:solidFill>
                <a:latin typeface="Cormorant Infant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8" y="5477256"/>
            <a:ext cx="3840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0" i="0">
                <a:solidFill>
                  <a:srgbClr val="2F3E34"/>
                </a:solidFill>
                <a:latin typeface="Cormorant Garamond"/>
              </a:rPr>
              <a:t>Join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9008" y="5477256"/>
            <a:ext cx="4937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Where you fit, and what comes next.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6245352"/>
            <a:ext cx="9601200" cy="9525"/>
          </a:xfrm>
          <a:prstGeom prst="rect">
            <a:avLst/>
          </a:prstGeom>
          <a:solidFill>
            <a:srgbClr val="E3D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sc-icon-p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5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4000">
                <a:solidFill>
                  <a:srgbClr val="997192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0" b="0" i="0" spc="-200">
                <a:solidFill>
                  <a:srgbClr val="F0EDE7"/>
                </a:solidFill>
                <a:latin typeface="Cormorant Infan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160520"/>
            <a:ext cx="822960" cy="27940"/>
          </a:xfrm>
          <a:prstGeom prst="rect">
            <a:avLst/>
          </a:prstGeom>
          <a:solidFill>
            <a:srgbClr val="F0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0" i="0" spc="-40">
                <a:solidFill>
                  <a:srgbClr val="F0EDE7"/>
                </a:solidFill>
                <a:latin typeface="Cormorant Garamond"/>
              </a:rPr>
              <a:t>Section Title</a:t>
            </a:r>
          </a:p>
          <a:p>
            <a:pPr algn="l">
              <a:spcBef>
                <a:spcPts val="0"/>
              </a:spcBef>
            </a:pPr>
            <a:r>
              <a:rPr sz="2400" b="0" i="1">
                <a:solidFill>
                  <a:srgbClr val="EDE6EC"/>
                </a:solidFill>
                <a:latin typeface="Cormorant Garamond"/>
              </a:rPr>
              <a:t>One line that frames what this section is about.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8B5E83"/>
                </a:solidFill>
                <a:latin typeface="Hanken Grotesk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A heading that states the point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06040"/>
            <a:ext cx="822960" cy="27940"/>
          </a:xfrm>
          <a:prstGeom prst="rect">
            <a:avLst/>
          </a:prstGeom>
          <a:solidFill>
            <a:srgbClr val="8B5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Lead with the idea in one calm sentence. Short, declarative, confident.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Use the body style for supporting detail. Generous spacing, easy to read from the back of the room.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4A5E50"/>
                </a:solidFill>
                <a:latin typeface="Hanken Grotesk"/>
              </a:rPr>
              <a:t>Each point earns its place. When a line wants a dash, it usually wants to be two sentences instead.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97180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3246120"/>
            <a:ext cx="301752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0" i="1">
                <a:solidFill>
                  <a:srgbClr val="2F3E34"/>
                </a:solidFill>
                <a:latin typeface="Cormorant Garamond"/>
              </a:rPr>
              <a:t>A supporting stat or callout sits here.</a:t>
            </a:r>
          </a:p>
          <a:p>
            <a:pPr algn="l">
              <a:spcBef>
                <a:spcPts val="0"/>
              </a:spcBef>
            </a:pPr>
            <a:r>
              <a:rPr sz="1300" b="0" i="0" spc="40">
                <a:solidFill>
                  <a:srgbClr val="7E8E84"/>
                </a:solidFill>
                <a:latin typeface="Hanken Grotesk"/>
              </a:rPr>
              <a:t>Source name</a:t>
            </a:r>
          </a:p>
        </p:txBody>
      </p:sp>
      <p:pic>
        <p:nvPicPr>
          <p:cNvPr id="9" name="Picture 8" descr="ssc-icon-p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8B5E83"/>
                </a:solidFill>
                <a:latin typeface="Hanken Grotesk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Two ideas,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743200"/>
            <a:ext cx="640080" cy="27940"/>
          </a:xfrm>
          <a:prstGeom prst="rect">
            <a:avLst/>
          </a:prstGeom>
          <a:solidFill>
            <a:srgbClr val="8B5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9260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2F3E34"/>
                </a:solidFill>
                <a:latin typeface="Cormorant Garamond"/>
              </a:rPr>
              <a:t>Column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4754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00" b="0" i="0">
                <a:solidFill>
                  <a:srgbClr val="4A5E50"/>
                </a:solidFill>
                <a:latin typeface="Hanken Grotesk"/>
              </a:rPr>
              <a:t>Open with the positive. State what this is, plainly, then give two or three lines of supporting detail underneath.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743200"/>
            <a:ext cx="640080" cy="2794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9260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2F3E34"/>
                </a:solidFill>
                <a:latin typeface="Cormorant Garamond"/>
              </a:rPr>
              <a:t>Column 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611880"/>
            <a:ext cx="47548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00" b="0" i="0">
                <a:solidFill>
                  <a:srgbClr val="4A5E50"/>
                </a:solidFill>
                <a:latin typeface="Hanken Grotesk"/>
              </a:rPr>
              <a:t>Mirror the structure on the right. Balanced columns read as calm and considered, which is exactly the brand voice.</a:t>
            </a:r>
          </a:p>
        </p:txBody>
      </p:sp>
      <p:pic>
        <p:nvPicPr>
          <p:cNvPr id="11" name="Picture 10" descr="ssc-icon-p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0976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6000">
                <a:solidFill>
                  <a:srgbClr val="EAE6DD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8B5E83"/>
                </a:solidFill>
                <a:latin typeface="Hanken Grotesk"/>
              </a:rPr>
              <a:t>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What the data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0" b="0" i="0" spc="-200">
                <a:solidFill>
                  <a:srgbClr val="8B5E83"/>
                </a:solidFill>
                <a:latin typeface="Cormorant Infant"/>
              </a:rPr>
              <a:t>#3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43400"/>
            <a:ext cx="548640" cy="25400"/>
          </a:xfrm>
          <a:prstGeom prst="rect">
            <a:avLst/>
          </a:prstGeom>
          <a:solidFill>
            <a:srgbClr val="8B5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5262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Utah's rank to start a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274320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0" b="0" i="0" spc="-200">
                <a:solidFill>
                  <a:srgbClr val="2F3E34"/>
                </a:solidFill>
                <a:latin typeface="Cormorant Infant"/>
              </a:rPr>
              <a:t>#50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343400"/>
            <a:ext cx="548640" cy="254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45262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Utah's rank for women's equality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274320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0" b="0" i="0" spc="-200">
                <a:solidFill>
                  <a:srgbClr val="8B5E83"/>
                </a:solidFill>
                <a:latin typeface="Cormorant Infant"/>
              </a:rPr>
              <a:t>169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343400"/>
            <a:ext cx="548640" cy="25400"/>
          </a:xfrm>
          <a:prstGeom prst="rect">
            <a:avLst/>
          </a:prstGeom>
          <a:solidFill>
            <a:srgbClr val="8B5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45262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 i="0">
                <a:solidFill>
                  <a:srgbClr val="4A5E50"/>
                </a:solidFill>
                <a:latin typeface="Hanken Grotesk"/>
              </a:rPr>
              <a:t>An example headline figure</a:t>
            </a:r>
          </a:p>
        </p:txBody>
      </p:sp>
      <p:pic>
        <p:nvPicPr>
          <p:cNvPr id="15" name="Picture 14" descr="ssc-icon-p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4000">
                <a:solidFill>
                  <a:srgbClr val="3C4A40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6304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0" b="0" i="0">
                <a:solidFill>
                  <a:srgbClr val="B589AC"/>
                </a:solidFill>
                <a:latin typeface="Cormorant Garamond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95097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4200" b="0" i="1">
                <a:solidFill>
                  <a:srgbClr val="F0EDE7"/>
                </a:solidFill>
                <a:latin typeface="Cormorant Garamond"/>
              </a:rPr>
              <a:t>A pull quote sits here, set large and italic in Cormorant Garamond. It carries weight because it is given room to breathe.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440680"/>
            <a:ext cx="457200" cy="25400"/>
          </a:xfrm>
          <a:prstGeom prst="rect">
            <a:avLst/>
          </a:prstGeom>
          <a:solidFill>
            <a:srgbClr val="B5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5285232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 spc="120">
                <a:solidFill>
                  <a:srgbClr val="7E8E84"/>
                </a:solidFill>
                <a:latin typeface="Hanken Grotesk"/>
              </a:rPr>
              <a:t>Attribution, Title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0" i="0" spc="100">
                <a:solidFill>
                  <a:srgbClr val="7E8E84"/>
                </a:solidFill>
                <a:latin typeface="Hanken Grotesk"/>
              </a:rPr>
              <a:t>Replace with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280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8B5E83"/>
                </a:solidFill>
                <a:latin typeface="Hanken Grotesk"/>
              </a:rPr>
              <a:t>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64592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000" b="0" i="0" spc="-40">
                <a:solidFill>
                  <a:srgbClr val="2F3E34"/>
                </a:solidFill>
                <a:latin typeface="Cormorant Garamond"/>
              </a:rPr>
              <a:t>A picture, then the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3200400"/>
            <a:ext cx="640080" cy="27940"/>
          </a:xfrm>
          <a:prstGeom prst="rect">
            <a:avLst/>
          </a:prstGeom>
          <a:solidFill>
            <a:srgbClr val="8B5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52044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700" b="0" i="0">
                <a:solidFill>
                  <a:srgbClr val="4A5E50"/>
                </a:solidFill>
                <a:latin typeface="Hanken Grotesk"/>
              </a:rPr>
              <a:t>Pair a full-bleed image on the left with a tight column of copy on the right. Let the image do the emotional work and keep the words quiet underneath it.</a:t>
            </a:r>
          </a:p>
        </p:txBody>
      </p:sp>
      <p:pic>
        <p:nvPicPr>
          <p:cNvPr id="9" name="Picture 8" descr="ssc-icon-p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8B5E83"/>
                </a:solidFill>
                <a:latin typeface="Hanken Grotesk"/>
              </a:rPr>
              <a:t>THE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Three of something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69748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2971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0" i="0">
                <a:solidFill>
                  <a:srgbClr val="8B5E83"/>
                </a:solidFill>
                <a:latin typeface="Cormorant Infan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37033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0" i="0">
                <a:solidFill>
                  <a:srgbClr val="2F3E34"/>
                </a:solidFill>
                <a:latin typeface="Cormorant Garamond"/>
              </a:rPr>
              <a:t>First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3434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A short description that explains this one item in two calm 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269748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8888" y="2971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0" i="0">
                <a:solidFill>
                  <a:srgbClr val="8B5E83"/>
                </a:solidFill>
                <a:latin typeface="Cormorant Infan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37033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0" i="0">
                <a:solidFill>
                  <a:srgbClr val="2F3E34"/>
                </a:solidFill>
                <a:latin typeface="Cormorant Garamond"/>
              </a:rPr>
              <a:t>Second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43434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Keep each card parallel in length so the row reads as one considered unit.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697480"/>
            <a:ext cx="3291840" cy="3108960"/>
          </a:xfrm>
          <a:prstGeom prst="roundRect">
            <a:avLst>
              <a:gd name="adj" fmla="val 5000"/>
            </a:avLst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2971800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0" i="0">
                <a:solidFill>
                  <a:srgbClr val="8B5E83"/>
                </a:solidFill>
                <a:latin typeface="Cormorant Infan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70332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0" i="0">
                <a:solidFill>
                  <a:srgbClr val="2F3E34"/>
                </a:solidFill>
                <a:latin typeface="Cormorant Garamond"/>
              </a:rPr>
              <a:t>Third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43434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500" b="0" i="0">
                <a:solidFill>
                  <a:srgbClr val="4A5E50"/>
                </a:solidFill>
                <a:latin typeface="Hanken Grotesk"/>
              </a:rPr>
              <a:t>End on the strongest of the three. Define each by what it is.</a:t>
            </a:r>
          </a:p>
        </p:txBody>
      </p:sp>
      <p:pic>
        <p:nvPicPr>
          <p:cNvPr id="17" name="Picture 16" descr="ssc-icon-p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4000">
                <a:solidFill>
                  <a:srgbClr val="3C4A40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0" b="0" i="0" spc="-200">
                <a:solidFill>
                  <a:srgbClr val="B589AC"/>
                </a:solidFill>
                <a:latin typeface="Cormorant Infant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160520"/>
            <a:ext cx="822960" cy="27940"/>
          </a:xfrm>
          <a:prstGeom prst="rect">
            <a:avLst/>
          </a:prstGeom>
          <a:solidFill>
            <a:srgbClr val="B5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0" i="0" spc="-40">
                <a:solidFill>
                  <a:srgbClr val="F0EDE7"/>
                </a:solidFill>
                <a:latin typeface="Cormorant Garamond"/>
              </a:rPr>
              <a:t>Second Section</a:t>
            </a:r>
          </a:p>
          <a:p>
            <a:pPr algn="l">
              <a:spcBef>
                <a:spcPts val="0"/>
              </a:spcBef>
            </a:pPr>
            <a:r>
              <a:rPr sz="2400" b="0" i="1">
                <a:solidFill>
                  <a:srgbClr val="7E8E84"/>
                </a:solidFill>
                <a:latin typeface="Cormorant Garamond"/>
              </a:rPr>
              <a:t>An alternate divider on the moss surface.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0" y="-1097280"/>
            <a:ext cx="6400800" cy="9144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2000">
                <a:solidFill>
                  <a:srgbClr val="3C4A40"/>
                </a:solidFill>
                <a:latin typeface="Cormorant Garamond"/>
              </a:rPr>
              <a:t>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5544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4600" b="1" i="0" spc="-30">
                <a:solidFill>
                  <a:srgbClr val="F0EDE7"/>
                </a:solidFill>
                <a:latin typeface="Cormorant Garamond"/>
              </a:rPr>
              <a:t>Utah's next generation of innovation will be shaped by founders &amp; determined by funders.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4600" b="1" i="0" spc="-30">
                <a:solidFill>
                  <a:srgbClr val="B589AC"/>
                </a:solidFill>
                <a:latin typeface="Cormorant Garamond"/>
              </a:rPr>
              <a:t>It's time more of them are women.</a:t>
            </a:r>
          </a:p>
        </p:txBody>
      </p:sp>
      <p:pic>
        <p:nvPicPr>
          <p:cNvPr id="5" name="Picture 4" descr="ssc-primary-plum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617720"/>
            <a:ext cx="2611705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4207" y="4572000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600" b="1" i="0" spc="140">
                <a:solidFill>
                  <a:srgbClr val="B589AC"/>
                </a:solidFill>
                <a:latin typeface="Hanken Grotesk"/>
              </a:rPr>
              <a:t>Join Us</a:t>
            </a:r>
          </a:p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0EDE7"/>
                </a:solidFill>
                <a:latin typeface="Hanken Grotesk"/>
              </a:rPr>
              <a:t>silverandsaltcapital.com</a:t>
            </a:r>
          </a:p>
          <a:p>
            <a:pPr algn="r">
              <a:spcBef>
                <a:spcPts val="0"/>
              </a:spcBef>
            </a:pPr>
            <a:r>
              <a:rPr sz="1500" b="0" i="0">
                <a:solidFill>
                  <a:srgbClr val="7E8E84"/>
                </a:solidFill>
                <a:latin typeface="Hanken Grotesk"/>
              </a:rPr>
              <a:t>tori@silverandsaltcapital.com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 spc="260">
                <a:solidFill>
                  <a:srgbClr val="8B5E83"/>
                </a:solidFill>
                <a:latin typeface="Hanken Grotesk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400" b="0" i="0" spc="-40">
                <a:solidFill>
                  <a:srgbClr val="2F3E34"/>
                </a:solidFill>
                <a:latin typeface="Cormorant Garamond"/>
              </a:rPr>
              <a:t>Palette &amp; 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F3E34"/>
                </a:solidFill>
                <a:latin typeface="Hanken Grotesk"/>
              </a:rPr>
              <a:t>Cream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2F3E34"/>
                </a:solidFill>
                <a:latin typeface="Cormorant Infant"/>
              </a:rPr>
              <a:t>#FBF8F2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6712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F4EFE6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7685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F3E34"/>
                </a:solidFill>
                <a:latin typeface="Hanken Grotesk"/>
              </a:rPr>
              <a:t>Sand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2F3E34"/>
                </a:solidFill>
                <a:latin typeface="Cormorant Infant"/>
              </a:rPr>
              <a:t>#F4EFE6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2F3E34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0EDE7"/>
                </a:solidFill>
                <a:latin typeface="Hanken Grotesk"/>
              </a:rPr>
              <a:t>Moss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0EDE7"/>
                </a:solidFill>
                <a:latin typeface="Cormorant Infant"/>
              </a:rPr>
              <a:t>#2F3E34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1888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4A5E50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2861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0EDE7"/>
                </a:solidFill>
                <a:latin typeface="Hanken Grotesk"/>
              </a:rPr>
              <a:t>Moss Light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0EDE7"/>
                </a:solidFill>
                <a:latin typeface="Cormorant Infant"/>
              </a:rPr>
              <a:t>#4A5E50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7E8E84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0EDE7"/>
                </a:solidFill>
                <a:latin typeface="Hanken Grotesk"/>
              </a:rPr>
              <a:t>Sage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0EDE7"/>
                </a:solidFill>
                <a:latin typeface="Cormorant Infant"/>
              </a:rPr>
              <a:t>#7E8E84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7064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8B5E83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037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0EDE7"/>
                </a:solidFill>
                <a:latin typeface="Hanken Grotesk"/>
              </a:rPr>
              <a:t>Plum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F0EDE7"/>
                </a:solidFill>
                <a:latin typeface="Cormorant Infant"/>
              </a:rPr>
              <a:t>#8B5E83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9652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B589AC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625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F3E34"/>
                </a:solidFill>
                <a:latin typeface="Hanken Grotesk"/>
              </a:rPr>
              <a:t>Plum Light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2F3E34"/>
                </a:solidFill>
                <a:latin typeface="Cormorant Infant"/>
              </a:rPr>
              <a:t>#B589AC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22408" y="2468880"/>
            <a:ext cx="1234440" cy="1371600"/>
          </a:xfrm>
          <a:prstGeom prst="roundRect">
            <a:avLst>
              <a:gd name="adj" fmla="val 8000"/>
            </a:avLst>
          </a:prstGeom>
          <a:solidFill>
            <a:srgbClr val="C4A47E"/>
          </a:solidFill>
          <a:ln w="9525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32136" y="3154680"/>
            <a:ext cx="1051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F3E34"/>
                </a:solidFill>
                <a:latin typeface="Hanken Grotesk"/>
              </a:rPr>
              <a:t>Warm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2F3E34"/>
                </a:solidFill>
                <a:latin typeface="Cormorant Infant"/>
              </a:rPr>
              <a:t>#C4A47E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297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0" i="0">
                <a:solidFill>
                  <a:srgbClr val="2F3E34"/>
                </a:solidFill>
                <a:latin typeface="Cormorant Garamond"/>
              </a:rPr>
              <a:t>Cormorant Garamond  —  display, headings, quotes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983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0" i="0">
                <a:solidFill>
                  <a:srgbClr val="8B5E83"/>
                </a:solidFill>
                <a:latin typeface="Cormorant Infant"/>
              </a:rPr>
              <a:t>Cormorant Infant  /  1234567890  —  numerals only (flagged 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5321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 i="0">
                <a:solidFill>
                  <a:srgbClr val="4A5E50"/>
                </a:solidFill>
                <a:latin typeface="Hanken Grotesk"/>
              </a:rPr>
              <a:t>Hanken Grotesk  —  body, labels, and UI (Satoshi substitute in Google Slides)</a:t>
            </a:r>
          </a:p>
        </p:txBody>
      </p:sp>
      <p:pic>
        <p:nvPicPr>
          <p:cNvPr id="24" name="Picture 23" descr="ssc-icon-p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327648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25296" y="6336792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 spc="20">
                <a:solidFill>
                  <a:srgbClr val="7E8E84"/>
                </a:solidFill>
                <a:latin typeface="Cormorant Garamond"/>
              </a:rPr>
              <a:t>Silver &amp; Salt Capital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1647" y="6336792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300" b="0" i="0" spc="60">
                <a:solidFill>
                  <a:srgbClr val="7E8E84"/>
                </a:solidFill>
                <a:latin typeface="Cormorant Infant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